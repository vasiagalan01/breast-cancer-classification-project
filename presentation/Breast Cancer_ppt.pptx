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173A"/>
    <a:srgbClr val="A72E4D"/>
    <a:srgbClr val="FEF4F9"/>
    <a:srgbClr val="EC7C99"/>
    <a:srgbClr val="FBCDE2"/>
    <a:srgbClr val="FDE7F1"/>
    <a:srgbClr val="FAC6DE"/>
    <a:srgbClr val="C21C47"/>
    <a:srgbClr val="F361A2"/>
    <a:srgbClr val="EB77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59" autoAdjust="0"/>
    <p:restoredTop sz="94714"/>
  </p:normalViewPr>
  <p:slideViewPr>
    <p:cSldViewPr snapToGrid="0">
      <p:cViewPr varScale="1">
        <p:scale>
          <a:sx n="148" d="100"/>
          <a:sy n="148" d="100"/>
        </p:scale>
        <p:origin x="21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9D17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90F-4B2C-9DD6-290289D59F1E}"/>
              </c:ext>
            </c:extLst>
          </c:dPt>
          <c:dPt>
            <c:idx val="1"/>
            <c:bubble3D val="0"/>
            <c:spPr>
              <a:solidFill>
                <a:srgbClr val="EC7C9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390F-4B2C-9DD6-290289D59F1E}"/>
              </c:ext>
            </c:extLst>
          </c:dPt>
          <c:dLbls>
            <c:dLbl>
              <c:idx val="0"/>
              <c:layout>
                <c:manualLayout>
                  <c:x val="-0.21981326301954049"/>
                  <c:y val="-0.1341012639364625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90F-4B2C-9DD6-290289D59F1E}"/>
                </c:ext>
              </c:extLst>
            </c:dLbl>
            <c:dLbl>
              <c:idx val="1"/>
              <c:layout>
                <c:manualLayout>
                  <c:x val="0.17445617598391661"/>
                  <c:y val="8.4084077638526003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90F-4B2C-9DD6-290289D59F1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sz="15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l-GR"/>
              </a:p>
            </c:txPr>
            <c:dLblPos val="inEnd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Malignant</c:v>
                </c:pt>
                <c:pt idx="1">
                  <c:v>Benign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0.59</c:v>
                </c:pt>
                <c:pt idx="1">
                  <c:v>0.41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0F-4B2C-9DD6-290289D59F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500"/>
      </a:pPr>
      <a:endParaRPr lang="el-G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A02CCD-965B-4DF4-AFF5-1A43059548ED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l-GR"/>
        </a:p>
      </dgm:t>
    </dgm:pt>
    <dgm:pt modelId="{653F4435-3555-45E2-B630-4B4670B9BA68}">
      <dgm:prSet phldrT="[Text]" custT="1"/>
      <dgm:spPr>
        <a:solidFill>
          <a:srgbClr val="9D173A"/>
        </a:solidFill>
        <a:ln>
          <a:solidFill>
            <a:srgbClr val="9D173A"/>
          </a:solidFill>
        </a:ln>
      </dgm:spPr>
      <dgm:t>
        <a:bodyPr/>
        <a:lstStyle/>
        <a:p>
          <a:pPr>
            <a:buNone/>
          </a:pPr>
          <a:r>
            <a:rPr lang="en-US" sz="2200" b="1" dirty="0">
              <a:solidFill>
                <a:schemeClr val="bg1"/>
              </a:solidFill>
            </a:rPr>
            <a:t>Recall</a:t>
          </a:r>
          <a:endParaRPr lang="el-GR" sz="2200" b="1" dirty="0">
            <a:solidFill>
              <a:schemeClr val="bg1"/>
            </a:solidFill>
          </a:endParaRPr>
        </a:p>
      </dgm:t>
    </dgm:pt>
    <dgm:pt modelId="{F11DD2C9-CD5D-4F4C-A213-A8C532CEE8C4}" type="parTrans" cxnId="{308271F8-DA13-42A0-AC79-463758DC97B2}">
      <dgm:prSet/>
      <dgm:spPr/>
      <dgm:t>
        <a:bodyPr/>
        <a:lstStyle/>
        <a:p>
          <a:endParaRPr lang="el-GR"/>
        </a:p>
      </dgm:t>
    </dgm:pt>
    <dgm:pt modelId="{FB0A5BBE-4A52-4DD9-BDCF-0B59C6D61070}" type="sibTrans" cxnId="{308271F8-DA13-42A0-AC79-463758DC97B2}">
      <dgm:prSet/>
      <dgm:spPr/>
      <dgm:t>
        <a:bodyPr/>
        <a:lstStyle/>
        <a:p>
          <a:endParaRPr lang="el-GR"/>
        </a:p>
      </dgm:t>
    </dgm:pt>
    <dgm:pt modelId="{E03F87AA-D858-44B8-AD66-6195DF06BFFA}">
      <dgm:prSet phldrT="[Text]" phldr="0" custT="1"/>
      <dgm:spPr>
        <a:solidFill>
          <a:srgbClr val="9D173A"/>
        </a:solidFill>
        <a:ln w="19050" cap="flat" cmpd="sng" algn="ctr">
          <a:solidFill>
            <a:srgbClr val="9D173A"/>
          </a:solidFill>
          <a:prstDash val="solid"/>
          <a:miter lim="800000"/>
        </a:ln>
        <a:effectLst/>
      </dgm:spPr>
      <dgm:t>
        <a:bodyPr spcFirstLastPara="0" vert="horz" wrap="square" lIns="66040" tIns="66040" rIns="66040" bIns="66040" numCol="1" spcCol="1270" anchor="ctr" anchorCtr="0"/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bg1"/>
              </a:solidFill>
              <a:latin typeface="Aptos" panose="02110004020202020204"/>
              <a:ea typeface="+mn-ea"/>
              <a:cs typeface="+mn-cs"/>
            </a:rPr>
            <a:t>Precision</a:t>
          </a:r>
          <a:endParaRPr lang="el-GR" sz="2200" b="1" kern="1200" dirty="0">
            <a:solidFill>
              <a:schemeClr val="bg1"/>
            </a:solidFill>
            <a:latin typeface="Aptos" panose="02110004020202020204"/>
            <a:ea typeface="+mn-ea"/>
            <a:cs typeface="+mn-cs"/>
          </a:endParaRPr>
        </a:p>
      </dgm:t>
    </dgm:pt>
    <dgm:pt modelId="{D1982ACA-0402-43DF-B399-BFE01E85B8BA}" type="parTrans" cxnId="{015B9CDE-6472-4E68-A049-7BE79205474D}">
      <dgm:prSet/>
      <dgm:spPr/>
      <dgm:t>
        <a:bodyPr/>
        <a:lstStyle/>
        <a:p>
          <a:endParaRPr lang="el-GR"/>
        </a:p>
      </dgm:t>
    </dgm:pt>
    <dgm:pt modelId="{6C488AA9-25D1-43E5-82CC-B8A0EFEDCC80}" type="sibTrans" cxnId="{015B9CDE-6472-4E68-A049-7BE79205474D}">
      <dgm:prSet/>
      <dgm:spPr/>
      <dgm:t>
        <a:bodyPr/>
        <a:lstStyle/>
        <a:p>
          <a:endParaRPr lang="el-GR"/>
        </a:p>
      </dgm:t>
    </dgm:pt>
    <dgm:pt modelId="{2ABB2F1D-07E7-4644-B2B9-D5F1CC69E4D3}">
      <dgm:prSet custT="1"/>
      <dgm:spPr>
        <a:solidFill>
          <a:srgbClr val="FEF4F9">
            <a:alpha val="90000"/>
          </a:srgbClr>
        </a:solidFill>
      </dgm:spPr>
      <dgm:t>
        <a:bodyPr/>
        <a:lstStyle/>
        <a:p>
          <a:pPr algn="ctr">
            <a:buNone/>
          </a:pPr>
          <a:r>
            <a:rPr lang="en-US" sz="1800" dirty="0">
              <a:solidFill>
                <a:schemeClr val="bg2">
                  <a:lumMod val="25000"/>
                </a:schemeClr>
              </a:solidFill>
            </a:rPr>
            <a:t>Of all malignant tumors, how many our model correctly detect.</a:t>
          </a:r>
          <a:endParaRPr lang="el-GR" sz="1800" dirty="0">
            <a:solidFill>
              <a:schemeClr val="bg2">
                <a:lumMod val="25000"/>
              </a:schemeClr>
            </a:solidFill>
          </a:endParaRPr>
        </a:p>
      </dgm:t>
    </dgm:pt>
    <dgm:pt modelId="{EE3D9937-4AB6-476C-A258-DCA5F81E2DD1}" type="parTrans" cxnId="{16C49274-0A56-4F04-BE49-519993E9EE69}">
      <dgm:prSet/>
      <dgm:spPr/>
      <dgm:t>
        <a:bodyPr/>
        <a:lstStyle/>
        <a:p>
          <a:endParaRPr lang="el-GR"/>
        </a:p>
      </dgm:t>
    </dgm:pt>
    <dgm:pt modelId="{B32FDDE0-2FB5-42DC-8B05-2DEC2298DC83}" type="sibTrans" cxnId="{16C49274-0A56-4F04-BE49-519993E9EE69}">
      <dgm:prSet/>
      <dgm:spPr/>
      <dgm:t>
        <a:bodyPr/>
        <a:lstStyle/>
        <a:p>
          <a:endParaRPr lang="el-GR"/>
        </a:p>
      </dgm:t>
    </dgm:pt>
    <dgm:pt modelId="{35D5B63A-78A4-4659-ADC3-FEF1CDA8DE8F}">
      <dgm:prSet custT="1"/>
      <dgm:spPr>
        <a:solidFill>
          <a:srgbClr val="FEF4F9">
            <a:alpha val="90000"/>
          </a:srgbClr>
        </a:solidFill>
      </dgm:spPr>
      <dgm:t>
        <a:bodyPr/>
        <a:lstStyle/>
        <a:p>
          <a:pPr algn="ctr">
            <a:buNone/>
          </a:pPr>
          <a:r>
            <a:rPr lang="en-US" sz="1800" kern="1200" dirty="0">
              <a:solidFill>
                <a:srgbClr val="E8E8E8">
                  <a:lumMod val="25000"/>
                </a:srgbClr>
              </a:solidFill>
              <a:latin typeface="Aptos" panose="02110004020202020204"/>
              <a:ea typeface="+mn-ea"/>
              <a:cs typeface="+mn-cs"/>
            </a:rPr>
            <a:t>Of all cases predicted malignant, how many really are malignant?</a:t>
          </a:r>
          <a:endParaRPr lang="el-GR" sz="1800" kern="1200" dirty="0">
            <a:solidFill>
              <a:srgbClr val="E8E8E8">
                <a:lumMod val="25000"/>
              </a:srgbClr>
            </a:solidFill>
            <a:latin typeface="Aptos" panose="02110004020202020204"/>
            <a:ea typeface="+mn-ea"/>
            <a:cs typeface="+mn-cs"/>
          </a:endParaRPr>
        </a:p>
      </dgm:t>
    </dgm:pt>
    <dgm:pt modelId="{FBBC2821-4048-434C-8D31-0EB995FC80E0}" type="parTrans" cxnId="{82648703-EEE5-4578-8B66-47EED2E9F933}">
      <dgm:prSet/>
      <dgm:spPr/>
      <dgm:t>
        <a:bodyPr/>
        <a:lstStyle/>
        <a:p>
          <a:endParaRPr lang="el-GR"/>
        </a:p>
      </dgm:t>
    </dgm:pt>
    <dgm:pt modelId="{F3DBF5A7-37AE-417F-B837-CD8296E0A5E1}" type="sibTrans" cxnId="{82648703-EEE5-4578-8B66-47EED2E9F933}">
      <dgm:prSet/>
      <dgm:spPr/>
      <dgm:t>
        <a:bodyPr/>
        <a:lstStyle/>
        <a:p>
          <a:endParaRPr lang="el-GR"/>
        </a:p>
      </dgm:t>
    </dgm:pt>
    <dgm:pt modelId="{FA3FD8CE-FCD7-492B-9475-797849AC34C0}">
      <dgm:prSet custT="1"/>
      <dgm:spPr>
        <a:solidFill>
          <a:srgbClr val="FEF4F9">
            <a:alpha val="90000"/>
          </a:srgbClr>
        </a:solidFill>
      </dgm:spPr>
      <dgm:t>
        <a:bodyPr/>
        <a:lstStyle/>
        <a:p>
          <a:pPr algn="ctr">
            <a:buNone/>
          </a:pPr>
          <a:r>
            <a:rPr lang="en-US" sz="1800" kern="1200" dirty="0">
              <a:solidFill>
                <a:schemeClr val="bg2">
                  <a:lumMod val="25000"/>
                </a:schemeClr>
              </a:solidFill>
            </a:rPr>
            <a:t>Overall proportion of correct predictions.</a:t>
          </a:r>
          <a:endParaRPr lang="el-GR" sz="1800" kern="1200" dirty="0">
            <a:solidFill>
              <a:schemeClr val="bg2">
                <a:lumMod val="25000"/>
              </a:schemeClr>
            </a:solidFill>
            <a:latin typeface="Aptos" panose="02110004020202020204"/>
            <a:ea typeface="+mn-ea"/>
            <a:cs typeface="+mn-cs"/>
          </a:endParaRPr>
        </a:p>
      </dgm:t>
    </dgm:pt>
    <dgm:pt modelId="{D53A1201-E4DE-478D-8C4A-08A3844C3603}" type="sibTrans" cxnId="{4E0C4CB3-06EA-40CF-92B5-4A3F0D1BCDCF}">
      <dgm:prSet/>
      <dgm:spPr/>
      <dgm:t>
        <a:bodyPr/>
        <a:lstStyle/>
        <a:p>
          <a:endParaRPr lang="el-GR"/>
        </a:p>
      </dgm:t>
    </dgm:pt>
    <dgm:pt modelId="{43A6F4D8-EC4B-45F5-814D-08435D7DC762}" type="parTrans" cxnId="{4E0C4CB3-06EA-40CF-92B5-4A3F0D1BCDCF}">
      <dgm:prSet/>
      <dgm:spPr/>
      <dgm:t>
        <a:bodyPr/>
        <a:lstStyle/>
        <a:p>
          <a:endParaRPr lang="el-GR"/>
        </a:p>
      </dgm:t>
    </dgm:pt>
    <dgm:pt modelId="{76FB3365-5F45-4646-9A49-321B8E198559}">
      <dgm:prSet custT="1"/>
      <dgm:spPr>
        <a:solidFill>
          <a:srgbClr val="9D173A"/>
        </a:solidFill>
      </dgm:spPr>
      <dgm:t>
        <a:bodyPr/>
        <a:lstStyle/>
        <a:p>
          <a:r>
            <a:rPr lang="en-US" sz="2200" b="1" dirty="0"/>
            <a:t>Accuracy</a:t>
          </a:r>
          <a:endParaRPr lang="el-GR" sz="2200" b="1" dirty="0"/>
        </a:p>
      </dgm:t>
    </dgm:pt>
    <dgm:pt modelId="{49BA356C-CF53-4C20-AF90-EB5CCE06E348}" type="sibTrans" cxnId="{CA99C65F-5AD3-4AEB-92CA-300869DC2912}">
      <dgm:prSet/>
      <dgm:spPr/>
      <dgm:t>
        <a:bodyPr/>
        <a:lstStyle/>
        <a:p>
          <a:endParaRPr lang="el-GR"/>
        </a:p>
      </dgm:t>
    </dgm:pt>
    <dgm:pt modelId="{52E7D9B6-1C9C-448B-9388-DEFC34E1B622}" type="parTrans" cxnId="{CA99C65F-5AD3-4AEB-92CA-300869DC2912}">
      <dgm:prSet/>
      <dgm:spPr/>
      <dgm:t>
        <a:bodyPr/>
        <a:lstStyle/>
        <a:p>
          <a:endParaRPr lang="el-GR"/>
        </a:p>
      </dgm:t>
    </dgm:pt>
    <dgm:pt modelId="{651E3C16-B570-4902-9017-FF82DC3C4BB5}">
      <dgm:prSet custT="1"/>
      <dgm:spPr>
        <a:solidFill>
          <a:srgbClr val="FEF4F9">
            <a:alpha val="90000"/>
          </a:srgbClr>
        </a:solidFill>
      </dgm:spPr>
      <dgm:t>
        <a:bodyPr/>
        <a:lstStyle/>
        <a:p>
          <a:pPr algn="ctr">
            <a:buNone/>
          </a:pPr>
          <a:endParaRPr lang="el-GR" sz="1800" dirty="0">
            <a:solidFill>
              <a:schemeClr val="bg2">
                <a:lumMod val="25000"/>
              </a:schemeClr>
            </a:solidFill>
          </a:endParaRPr>
        </a:p>
      </dgm:t>
    </dgm:pt>
    <dgm:pt modelId="{254505A2-78BA-4DE8-AEAD-66DD7489A1F1}" type="parTrans" cxnId="{B04FB430-6F4C-48E5-97E6-42DDDDA21B48}">
      <dgm:prSet/>
      <dgm:spPr/>
      <dgm:t>
        <a:bodyPr/>
        <a:lstStyle/>
        <a:p>
          <a:endParaRPr lang="el-GR"/>
        </a:p>
      </dgm:t>
    </dgm:pt>
    <dgm:pt modelId="{F9E95D28-42D6-4A0D-B854-ACF19B70FBF1}" type="sibTrans" cxnId="{B04FB430-6F4C-48E5-97E6-42DDDDA21B48}">
      <dgm:prSet/>
      <dgm:spPr/>
      <dgm:t>
        <a:bodyPr/>
        <a:lstStyle/>
        <a:p>
          <a:endParaRPr lang="el-GR"/>
        </a:p>
      </dgm:t>
    </dgm:pt>
    <dgm:pt modelId="{489D6EA7-ACD4-4233-9ACF-502A70F396D7}">
      <dgm:prSet custT="1"/>
      <dgm:spPr>
        <a:solidFill>
          <a:srgbClr val="FEF4F9">
            <a:alpha val="90000"/>
          </a:srgbClr>
        </a:solidFill>
      </dgm:spPr>
      <dgm:t>
        <a:bodyPr/>
        <a:lstStyle/>
        <a:p>
          <a:pPr algn="ctr">
            <a:buNone/>
          </a:pPr>
          <a:r>
            <a:rPr lang="en-US" sz="1800" dirty="0">
              <a:solidFill>
                <a:schemeClr val="bg2">
                  <a:lumMod val="25000"/>
                </a:schemeClr>
              </a:solidFill>
            </a:rPr>
            <a:t>High Recall :</a:t>
          </a:r>
          <a:endParaRPr lang="el-GR" sz="1800" dirty="0">
            <a:solidFill>
              <a:schemeClr val="bg2">
                <a:lumMod val="25000"/>
              </a:schemeClr>
            </a:solidFill>
          </a:endParaRPr>
        </a:p>
      </dgm:t>
    </dgm:pt>
    <dgm:pt modelId="{F4F1FADB-212E-4294-ACE9-92BED48AB6AE}" type="parTrans" cxnId="{9593D3DC-6B99-4A85-9765-D08C4A5E1F79}">
      <dgm:prSet/>
      <dgm:spPr/>
      <dgm:t>
        <a:bodyPr/>
        <a:lstStyle/>
        <a:p>
          <a:endParaRPr lang="el-GR"/>
        </a:p>
      </dgm:t>
    </dgm:pt>
    <dgm:pt modelId="{5B7E9BEC-94E0-4631-8369-95E79C7213A8}" type="sibTrans" cxnId="{9593D3DC-6B99-4A85-9765-D08C4A5E1F79}">
      <dgm:prSet/>
      <dgm:spPr/>
      <dgm:t>
        <a:bodyPr/>
        <a:lstStyle/>
        <a:p>
          <a:endParaRPr lang="el-GR"/>
        </a:p>
      </dgm:t>
    </dgm:pt>
    <dgm:pt modelId="{8F68C222-FBF9-4BEB-A931-6BB955C04D06}">
      <dgm:prSet custT="1"/>
      <dgm:spPr>
        <a:solidFill>
          <a:srgbClr val="FEF4F9">
            <a:alpha val="90000"/>
          </a:srgbClr>
        </a:solidFill>
      </dgm:spPr>
      <dgm:t>
        <a:bodyPr/>
        <a:lstStyle/>
        <a:p>
          <a:pPr algn="ctr">
            <a:buNone/>
          </a:pPr>
          <a:r>
            <a:rPr lang="en-US" sz="1800" dirty="0">
              <a:solidFill>
                <a:srgbClr val="E8E8E8">
                  <a:lumMod val="25000"/>
                </a:srgbClr>
              </a:solidFill>
              <a:latin typeface="Aptos" panose="02110004020202020204"/>
              <a:ea typeface="+mn-ea"/>
              <a:cs typeface="+mn-cs"/>
            </a:rPr>
            <a:t>We catch almost all malignant tumors.</a:t>
          </a:r>
          <a:endParaRPr lang="el-GR" sz="1800" dirty="0">
            <a:solidFill>
              <a:schemeClr val="bg2">
                <a:lumMod val="25000"/>
              </a:schemeClr>
            </a:solidFill>
          </a:endParaRPr>
        </a:p>
      </dgm:t>
    </dgm:pt>
    <dgm:pt modelId="{59F52781-A187-4799-9698-C7F329EA2008}" type="parTrans" cxnId="{D07B5EB7-4C6B-4AB5-A3E7-94F3799C2438}">
      <dgm:prSet/>
      <dgm:spPr/>
      <dgm:t>
        <a:bodyPr/>
        <a:lstStyle/>
        <a:p>
          <a:endParaRPr lang="el-GR"/>
        </a:p>
      </dgm:t>
    </dgm:pt>
    <dgm:pt modelId="{8E5CAF06-5F80-4BAC-9A4D-D698A0A94232}" type="sibTrans" cxnId="{D07B5EB7-4C6B-4AB5-A3E7-94F3799C2438}">
      <dgm:prSet/>
      <dgm:spPr/>
      <dgm:t>
        <a:bodyPr/>
        <a:lstStyle/>
        <a:p>
          <a:endParaRPr lang="el-GR"/>
        </a:p>
      </dgm:t>
    </dgm:pt>
    <dgm:pt modelId="{88536D19-DBE8-4BB6-9297-F7EB86399AFC}">
      <dgm:prSet custT="1"/>
      <dgm:spPr>
        <a:solidFill>
          <a:srgbClr val="FEF4F9">
            <a:alpha val="90000"/>
          </a:srgbClr>
        </a:solidFill>
      </dgm:spPr>
      <dgm:t>
        <a:bodyPr/>
        <a:lstStyle/>
        <a:p>
          <a:pPr algn="ctr">
            <a:buNone/>
          </a:pPr>
          <a:endParaRPr lang="el-GR" sz="1800" kern="1200" dirty="0">
            <a:solidFill>
              <a:srgbClr val="E8E8E8">
                <a:lumMod val="25000"/>
              </a:srgbClr>
            </a:solidFill>
            <a:latin typeface="Aptos" panose="02110004020202020204"/>
            <a:ea typeface="+mn-ea"/>
            <a:cs typeface="+mn-cs"/>
          </a:endParaRPr>
        </a:p>
      </dgm:t>
    </dgm:pt>
    <dgm:pt modelId="{D4A1852A-B37E-43A8-98D7-FA315B7560D0}" type="parTrans" cxnId="{21C0BD44-8C73-474D-9223-72885749FFDC}">
      <dgm:prSet/>
      <dgm:spPr/>
      <dgm:t>
        <a:bodyPr/>
        <a:lstStyle/>
        <a:p>
          <a:endParaRPr lang="el-GR"/>
        </a:p>
      </dgm:t>
    </dgm:pt>
    <dgm:pt modelId="{54FA5E3E-BBDF-4A9E-AF06-981FE91C2F39}" type="sibTrans" cxnId="{21C0BD44-8C73-474D-9223-72885749FFDC}">
      <dgm:prSet/>
      <dgm:spPr/>
      <dgm:t>
        <a:bodyPr/>
        <a:lstStyle/>
        <a:p>
          <a:endParaRPr lang="el-GR"/>
        </a:p>
      </dgm:t>
    </dgm:pt>
    <dgm:pt modelId="{1649B412-2580-4FAB-AD41-421009F9C53A}">
      <dgm:prSet custT="1"/>
      <dgm:spPr>
        <a:solidFill>
          <a:srgbClr val="FEF4F9">
            <a:alpha val="90000"/>
          </a:srgbClr>
        </a:solidFill>
      </dgm:spPr>
      <dgm:t>
        <a:bodyPr/>
        <a:lstStyle/>
        <a:p>
          <a:pPr algn="ctr">
            <a:buNone/>
          </a:pPr>
          <a:r>
            <a:rPr lang="en-US" sz="1800" kern="1200" dirty="0">
              <a:solidFill>
                <a:srgbClr val="E8E8E8">
                  <a:lumMod val="25000"/>
                </a:srgbClr>
              </a:solidFill>
              <a:latin typeface="Aptos" panose="02110004020202020204"/>
              <a:ea typeface="+mn-ea"/>
              <a:cs typeface="+mn-cs"/>
            </a:rPr>
            <a:t>High Precision:</a:t>
          </a:r>
          <a:br>
            <a:rPr lang="en-US" sz="1800" kern="1200" dirty="0">
              <a:solidFill>
                <a:srgbClr val="E8E8E8">
                  <a:lumMod val="25000"/>
                </a:srgbClr>
              </a:solidFill>
              <a:latin typeface="Aptos" panose="02110004020202020204"/>
              <a:ea typeface="+mn-ea"/>
              <a:cs typeface="+mn-cs"/>
            </a:rPr>
          </a:br>
          <a:r>
            <a:rPr lang="en-US" sz="1800" kern="1200" dirty="0">
              <a:solidFill>
                <a:srgbClr val="E8E8E8">
                  <a:lumMod val="25000"/>
                </a:srgbClr>
              </a:solidFill>
              <a:latin typeface="Aptos" panose="02110004020202020204"/>
              <a:ea typeface="+mn-ea"/>
              <a:cs typeface="+mn-cs"/>
            </a:rPr>
            <a:t>few false alarms</a:t>
          </a:r>
          <a:endParaRPr lang="el-GR" sz="1800" kern="1200" dirty="0">
            <a:solidFill>
              <a:srgbClr val="E8E8E8">
                <a:lumMod val="25000"/>
              </a:srgbClr>
            </a:solidFill>
            <a:latin typeface="Aptos" panose="02110004020202020204"/>
            <a:ea typeface="+mn-ea"/>
            <a:cs typeface="+mn-cs"/>
          </a:endParaRPr>
        </a:p>
      </dgm:t>
    </dgm:pt>
    <dgm:pt modelId="{55ABA316-963B-4C0D-A147-8DAF88967B9E}" type="parTrans" cxnId="{C62C5ADA-7634-4E3A-A75F-E0DBB3BC401C}">
      <dgm:prSet/>
      <dgm:spPr/>
      <dgm:t>
        <a:bodyPr/>
        <a:lstStyle/>
        <a:p>
          <a:endParaRPr lang="el-GR"/>
        </a:p>
      </dgm:t>
    </dgm:pt>
    <dgm:pt modelId="{BC930976-82BC-48BA-8B67-3D0023EAB82F}" type="sibTrans" cxnId="{C62C5ADA-7634-4E3A-A75F-E0DBB3BC401C}">
      <dgm:prSet/>
      <dgm:spPr/>
      <dgm:t>
        <a:bodyPr/>
        <a:lstStyle/>
        <a:p>
          <a:endParaRPr lang="el-GR"/>
        </a:p>
      </dgm:t>
    </dgm:pt>
    <dgm:pt modelId="{7EBDEB7E-35AD-42E6-B798-AD647DE2C3D9}" type="pres">
      <dgm:prSet presAssocID="{D6A02CCD-965B-4DF4-AFF5-1A43059548ED}" presName="Name0" presStyleCnt="0">
        <dgm:presLayoutVars>
          <dgm:dir/>
          <dgm:animLvl val="lvl"/>
          <dgm:resizeHandles val="exact"/>
        </dgm:presLayoutVars>
      </dgm:prSet>
      <dgm:spPr/>
    </dgm:pt>
    <dgm:pt modelId="{680BFBBF-5C99-428A-BDBF-82CCE689C167}" type="pres">
      <dgm:prSet presAssocID="{76FB3365-5F45-4646-9A49-321B8E198559}" presName="composite" presStyleCnt="0"/>
      <dgm:spPr/>
    </dgm:pt>
    <dgm:pt modelId="{1C134C4A-C809-44BF-A804-960F64E9B9E1}" type="pres">
      <dgm:prSet presAssocID="{76FB3365-5F45-4646-9A49-321B8E198559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5127692A-E41A-4C32-AAF9-0A201611FE9E}" type="pres">
      <dgm:prSet presAssocID="{76FB3365-5F45-4646-9A49-321B8E198559}" presName="desTx" presStyleLbl="alignAccFollowNode1" presStyleIdx="0" presStyleCnt="3">
        <dgm:presLayoutVars>
          <dgm:bulletEnabled val="1"/>
        </dgm:presLayoutVars>
      </dgm:prSet>
      <dgm:spPr/>
    </dgm:pt>
    <dgm:pt modelId="{3CA76875-6616-4712-89A6-D4D58A35A6D6}" type="pres">
      <dgm:prSet presAssocID="{49BA356C-CF53-4C20-AF90-EB5CCE06E348}" presName="space" presStyleCnt="0"/>
      <dgm:spPr/>
    </dgm:pt>
    <dgm:pt modelId="{6254A86D-CB98-4E60-9924-0DE2AD12D93D}" type="pres">
      <dgm:prSet presAssocID="{653F4435-3555-45E2-B630-4B4670B9BA68}" presName="composite" presStyleCnt="0"/>
      <dgm:spPr/>
    </dgm:pt>
    <dgm:pt modelId="{3E318949-E040-44C8-87BC-0F40D5CC3C64}" type="pres">
      <dgm:prSet presAssocID="{653F4435-3555-45E2-B630-4B4670B9BA68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FC643D8D-006E-4570-A23A-F66607F1BBD6}" type="pres">
      <dgm:prSet presAssocID="{653F4435-3555-45E2-B630-4B4670B9BA68}" presName="desTx" presStyleLbl="alignAccFollowNode1" presStyleIdx="1" presStyleCnt="3">
        <dgm:presLayoutVars>
          <dgm:bulletEnabled val="1"/>
        </dgm:presLayoutVars>
      </dgm:prSet>
      <dgm:spPr/>
    </dgm:pt>
    <dgm:pt modelId="{22750DD7-7461-4C02-AD32-E42D092FDEF8}" type="pres">
      <dgm:prSet presAssocID="{FB0A5BBE-4A52-4DD9-BDCF-0B59C6D61070}" presName="space" presStyleCnt="0"/>
      <dgm:spPr/>
    </dgm:pt>
    <dgm:pt modelId="{5D7CDD52-31FE-4B55-B643-C5A6509C5E93}" type="pres">
      <dgm:prSet presAssocID="{E03F87AA-D858-44B8-AD66-6195DF06BFFA}" presName="composite" presStyleCnt="0"/>
      <dgm:spPr/>
    </dgm:pt>
    <dgm:pt modelId="{4E2AE456-406B-4F0D-A535-0B7AF5AC7613}" type="pres">
      <dgm:prSet presAssocID="{E03F87AA-D858-44B8-AD66-6195DF06BFFA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204F957D-0A31-45FC-920A-7ACE3B9FA588}" type="pres">
      <dgm:prSet presAssocID="{E03F87AA-D858-44B8-AD66-6195DF06BFFA}" presName="desTx" presStyleLbl="alignAccFollowNode1" presStyleIdx="2" presStyleCnt="3" custLinFactNeighborX="0" custLinFactNeighborY="-819">
        <dgm:presLayoutVars>
          <dgm:bulletEnabled val="1"/>
        </dgm:presLayoutVars>
      </dgm:prSet>
      <dgm:spPr/>
    </dgm:pt>
  </dgm:ptLst>
  <dgm:cxnLst>
    <dgm:cxn modelId="{82648703-EEE5-4578-8B66-47EED2E9F933}" srcId="{E03F87AA-D858-44B8-AD66-6195DF06BFFA}" destId="{35D5B63A-78A4-4659-ADC3-FEF1CDA8DE8F}" srcOrd="0" destOrd="0" parTransId="{FBBC2821-4048-434C-8D31-0EB995FC80E0}" sibTransId="{F3DBF5A7-37AE-417F-B837-CD8296E0A5E1}"/>
    <dgm:cxn modelId="{B1960A29-4120-4748-9B04-4C5F14DD771D}" type="presOf" srcId="{653F4435-3555-45E2-B630-4B4670B9BA68}" destId="{3E318949-E040-44C8-87BC-0F40D5CC3C64}" srcOrd="0" destOrd="0" presId="urn:microsoft.com/office/officeart/2005/8/layout/hList1"/>
    <dgm:cxn modelId="{B04FB430-6F4C-48E5-97E6-42DDDDA21B48}" srcId="{653F4435-3555-45E2-B630-4B4670B9BA68}" destId="{651E3C16-B570-4902-9017-FF82DC3C4BB5}" srcOrd="1" destOrd="0" parTransId="{254505A2-78BA-4DE8-AEAD-66DD7489A1F1}" sibTransId="{F9E95D28-42D6-4A0D-B854-ACF19B70FBF1}"/>
    <dgm:cxn modelId="{6EE6DE3E-3FC7-4F34-8D46-464295F70B52}" type="presOf" srcId="{35D5B63A-78A4-4659-ADC3-FEF1CDA8DE8F}" destId="{204F957D-0A31-45FC-920A-7ACE3B9FA588}" srcOrd="0" destOrd="0" presId="urn:microsoft.com/office/officeart/2005/8/layout/hList1"/>
    <dgm:cxn modelId="{21C0BD44-8C73-474D-9223-72885749FFDC}" srcId="{E03F87AA-D858-44B8-AD66-6195DF06BFFA}" destId="{88536D19-DBE8-4BB6-9297-F7EB86399AFC}" srcOrd="1" destOrd="0" parTransId="{D4A1852A-B37E-43A8-98D7-FA315B7560D0}" sibTransId="{54FA5E3E-BBDF-4A9E-AF06-981FE91C2F39}"/>
    <dgm:cxn modelId="{C71BF94D-B113-4540-966D-60B0E00833C2}" type="presOf" srcId="{76FB3365-5F45-4646-9A49-321B8E198559}" destId="{1C134C4A-C809-44BF-A804-960F64E9B9E1}" srcOrd="0" destOrd="0" presId="urn:microsoft.com/office/officeart/2005/8/layout/hList1"/>
    <dgm:cxn modelId="{2CDE8356-5903-4AE6-97A7-E3F4800B4CD4}" type="presOf" srcId="{D6A02CCD-965B-4DF4-AFF5-1A43059548ED}" destId="{7EBDEB7E-35AD-42E6-B798-AD647DE2C3D9}" srcOrd="0" destOrd="0" presId="urn:microsoft.com/office/officeart/2005/8/layout/hList1"/>
    <dgm:cxn modelId="{CA99C65F-5AD3-4AEB-92CA-300869DC2912}" srcId="{D6A02CCD-965B-4DF4-AFF5-1A43059548ED}" destId="{76FB3365-5F45-4646-9A49-321B8E198559}" srcOrd="0" destOrd="0" parTransId="{52E7D9B6-1C9C-448B-9388-DEFC34E1B622}" sibTransId="{49BA356C-CF53-4C20-AF90-EB5CCE06E348}"/>
    <dgm:cxn modelId="{DA585968-8851-4999-9719-09C854D3E9F0}" type="presOf" srcId="{E03F87AA-D858-44B8-AD66-6195DF06BFFA}" destId="{4E2AE456-406B-4F0D-A535-0B7AF5AC7613}" srcOrd="0" destOrd="0" presId="urn:microsoft.com/office/officeart/2005/8/layout/hList1"/>
    <dgm:cxn modelId="{16C49274-0A56-4F04-BE49-519993E9EE69}" srcId="{653F4435-3555-45E2-B630-4B4670B9BA68}" destId="{2ABB2F1D-07E7-4644-B2B9-D5F1CC69E4D3}" srcOrd="0" destOrd="0" parTransId="{EE3D9937-4AB6-476C-A258-DCA5F81E2DD1}" sibTransId="{B32FDDE0-2FB5-42DC-8B05-2DEC2298DC83}"/>
    <dgm:cxn modelId="{82B05BB2-CB12-43C5-AD13-10AFC4977B8E}" type="presOf" srcId="{2ABB2F1D-07E7-4644-B2B9-D5F1CC69E4D3}" destId="{FC643D8D-006E-4570-A23A-F66607F1BBD6}" srcOrd="0" destOrd="0" presId="urn:microsoft.com/office/officeart/2005/8/layout/hList1"/>
    <dgm:cxn modelId="{4E0C4CB3-06EA-40CF-92B5-4A3F0D1BCDCF}" srcId="{76FB3365-5F45-4646-9A49-321B8E198559}" destId="{FA3FD8CE-FCD7-492B-9475-797849AC34C0}" srcOrd="0" destOrd="0" parTransId="{43A6F4D8-EC4B-45F5-814D-08435D7DC762}" sibTransId="{D53A1201-E4DE-478D-8C4A-08A3844C3603}"/>
    <dgm:cxn modelId="{D07B5EB7-4C6B-4AB5-A3E7-94F3799C2438}" srcId="{653F4435-3555-45E2-B630-4B4670B9BA68}" destId="{8F68C222-FBF9-4BEB-A931-6BB955C04D06}" srcOrd="3" destOrd="0" parTransId="{59F52781-A187-4799-9698-C7F329EA2008}" sibTransId="{8E5CAF06-5F80-4BAC-9A4D-D698A0A94232}"/>
    <dgm:cxn modelId="{FB72B8B7-3678-4030-B865-BBCDDCD00C65}" type="presOf" srcId="{88536D19-DBE8-4BB6-9297-F7EB86399AFC}" destId="{204F957D-0A31-45FC-920A-7ACE3B9FA588}" srcOrd="0" destOrd="1" presId="urn:microsoft.com/office/officeart/2005/8/layout/hList1"/>
    <dgm:cxn modelId="{F11E67CB-5FF5-498E-88EA-9893A3C574E9}" type="presOf" srcId="{651E3C16-B570-4902-9017-FF82DC3C4BB5}" destId="{FC643D8D-006E-4570-A23A-F66607F1BBD6}" srcOrd="0" destOrd="1" presId="urn:microsoft.com/office/officeart/2005/8/layout/hList1"/>
    <dgm:cxn modelId="{C62C5ADA-7634-4E3A-A75F-E0DBB3BC401C}" srcId="{E03F87AA-D858-44B8-AD66-6195DF06BFFA}" destId="{1649B412-2580-4FAB-AD41-421009F9C53A}" srcOrd="2" destOrd="0" parTransId="{55ABA316-963B-4C0D-A147-8DAF88967B9E}" sibTransId="{BC930976-82BC-48BA-8B67-3D0023EAB82F}"/>
    <dgm:cxn modelId="{9593D3DC-6B99-4A85-9765-D08C4A5E1F79}" srcId="{653F4435-3555-45E2-B630-4B4670B9BA68}" destId="{489D6EA7-ACD4-4233-9ACF-502A70F396D7}" srcOrd="2" destOrd="0" parTransId="{F4F1FADB-212E-4294-ACE9-92BED48AB6AE}" sibTransId="{5B7E9BEC-94E0-4631-8369-95E79C7213A8}"/>
    <dgm:cxn modelId="{015B9CDE-6472-4E68-A049-7BE79205474D}" srcId="{D6A02CCD-965B-4DF4-AFF5-1A43059548ED}" destId="{E03F87AA-D858-44B8-AD66-6195DF06BFFA}" srcOrd="2" destOrd="0" parTransId="{D1982ACA-0402-43DF-B399-BFE01E85B8BA}" sibTransId="{6C488AA9-25D1-43E5-82CC-B8A0EFEDCC80}"/>
    <dgm:cxn modelId="{C92DCCE4-D86C-427E-A1C0-AFC873BD9A54}" type="presOf" srcId="{489D6EA7-ACD4-4233-9ACF-502A70F396D7}" destId="{FC643D8D-006E-4570-A23A-F66607F1BBD6}" srcOrd="0" destOrd="2" presId="urn:microsoft.com/office/officeart/2005/8/layout/hList1"/>
    <dgm:cxn modelId="{4E6AF3E4-7DE7-4FE3-BEB8-9207463DF339}" type="presOf" srcId="{1649B412-2580-4FAB-AD41-421009F9C53A}" destId="{204F957D-0A31-45FC-920A-7ACE3B9FA588}" srcOrd="0" destOrd="2" presId="urn:microsoft.com/office/officeart/2005/8/layout/hList1"/>
    <dgm:cxn modelId="{7C1BA1E5-BB05-43B3-9397-9CD76B3A8E1B}" type="presOf" srcId="{FA3FD8CE-FCD7-492B-9475-797849AC34C0}" destId="{5127692A-E41A-4C32-AAF9-0A201611FE9E}" srcOrd="0" destOrd="0" presId="urn:microsoft.com/office/officeart/2005/8/layout/hList1"/>
    <dgm:cxn modelId="{6111C9F6-B933-4CF2-96BD-4AA98A3C51DE}" type="presOf" srcId="{8F68C222-FBF9-4BEB-A931-6BB955C04D06}" destId="{FC643D8D-006E-4570-A23A-F66607F1BBD6}" srcOrd="0" destOrd="3" presId="urn:microsoft.com/office/officeart/2005/8/layout/hList1"/>
    <dgm:cxn modelId="{308271F8-DA13-42A0-AC79-463758DC97B2}" srcId="{D6A02CCD-965B-4DF4-AFF5-1A43059548ED}" destId="{653F4435-3555-45E2-B630-4B4670B9BA68}" srcOrd="1" destOrd="0" parTransId="{F11DD2C9-CD5D-4F4C-A213-A8C532CEE8C4}" sibTransId="{FB0A5BBE-4A52-4DD9-BDCF-0B59C6D61070}"/>
    <dgm:cxn modelId="{B7F929F0-2250-4436-A6F7-DD27D18CE724}" type="presParOf" srcId="{7EBDEB7E-35AD-42E6-B798-AD647DE2C3D9}" destId="{680BFBBF-5C99-428A-BDBF-82CCE689C167}" srcOrd="0" destOrd="0" presId="urn:microsoft.com/office/officeart/2005/8/layout/hList1"/>
    <dgm:cxn modelId="{39D56BB1-FFC9-4754-8395-D8DBC337A0F0}" type="presParOf" srcId="{680BFBBF-5C99-428A-BDBF-82CCE689C167}" destId="{1C134C4A-C809-44BF-A804-960F64E9B9E1}" srcOrd="0" destOrd="0" presId="urn:microsoft.com/office/officeart/2005/8/layout/hList1"/>
    <dgm:cxn modelId="{3182D7BB-EE24-41C1-AC97-EE90A0A8EF99}" type="presParOf" srcId="{680BFBBF-5C99-428A-BDBF-82CCE689C167}" destId="{5127692A-E41A-4C32-AAF9-0A201611FE9E}" srcOrd="1" destOrd="0" presId="urn:microsoft.com/office/officeart/2005/8/layout/hList1"/>
    <dgm:cxn modelId="{7B9EABED-177E-4926-AC7C-5F04A9F21853}" type="presParOf" srcId="{7EBDEB7E-35AD-42E6-B798-AD647DE2C3D9}" destId="{3CA76875-6616-4712-89A6-D4D58A35A6D6}" srcOrd="1" destOrd="0" presId="urn:microsoft.com/office/officeart/2005/8/layout/hList1"/>
    <dgm:cxn modelId="{53B7E2D3-D908-4B1A-AA3A-505BEFFF8CC0}" type="presParOf" srcId="{7EBDEB7E-35AD-42E6-B798-AD647DE2C3D9}" destId="{6254A86D-CB98-4E60-9924-0DE2AD12D93D}" srcOrd="2" destOrd="0" presId="urn:microsoft.com/office/officeart/2005/8/layout/hList1"/>
    <dgm:cxn modelId="{CDAF8502-040C-4996-BDEB-CA88AD25DDDE}" type="presParOf" srcId="{6254A86D-CB98-4E60-9924-0DE2AD12D93D}" destId="{3E318949-E040-44C8-87BC-0F40D5CC3C64}" srcOrd="0" destOrd="0" presId="urn:microsoft.com/office/officeart/2005/8/layout/hList1"/>
    <dgm:cxn modelId="{F3C0FFA2-F645-4FEE-AB3F-F93001FC8033}" type="presParOf" srcId="{6254A86D-CB98-4E60-9924-0DE2AD12D93D}" destId="{FC643D8D-006E-4570-A23A-F66607F1BBD6}" srcOrd="1" destOrd="0" presId="urn:microsoft.com/office/officeart/2005/8/layout/hList1"/>
    <dgm:cxn modelId="{FF83EA87-EE94-4CEF-B7C4-46C671F1CE25}" type="presParOf" srcId="{7EBDEB7E-35AD-42E6-B798-AD647DE2C3D9}" destId="{22750DD7-7461-4C02-AD32-E42D092FDEF8}" srcOrd="3" destOrd="0" presId="urn:microsoft.com/office/officeart/2005/8/layout/hList1"/>
    <dgm:cxn modelId="{C52A3B7A-6795-4A87-90A5-40D5BC5C3BF0}" type="presParOf" srcId="{7EBDEB7E-35AD-42E6-B798-AD647DE2C3D9}" destId="{5D7CDD52-31FE-4B55-B643-C5A6509C5E93}" srcOrd="4" destOrd="0" presId="urn:microsoft.com/office/officeart/2005/8/layout/hList1"/>
    <dgm:cxn modelId="{1AC387EB-34FF-49E6-AA73-261C1C864CF1}" type="presParOf" srcId="{5D7CDD52-31FE-4B55-B643-C5A6509C5E93}" destId="{4E2AE456-406B-4F0D-A535-0B7AF5AC7613}" srcOrd="0" destOrd="0" presId="urn:microsoft.com/office/officeart/2005/8/layout/hList1"/>
    <dgm:cxn modelId="{A75CE20B-75B8-440B-A6FE-259045A068E3}" type="presParOf" srcId="{5D7CDD52-31FE-4B55-B643-C5A6509C5E93}" destId="{204F957D-0A31-45FC-920A-7ACE3B9FA58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134C4A-C809-44BF-A804-960F64E9B9E1}">
      <dsp:nvSpPr>
        <dsp:cNvPr id="0" name=""/>
        <dsp:cNvSpPr/>
      </dsp:nvSpPr>
      <dsp:spPr>
        <a:xfrm>
          <a:off x="3442" y="610560"/>
          <a:ext cx="3356865" cy="1342746"/>
        </a:xfrm>
        <a:prstGeom prst="rect">
          <a:avLst/>
        </a:prstGeom>
        <a:solidFill>
          <a:srgbClr val="9D173A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Accuracy</a:t>
          </a:r>
          <a:endParaRPr lang="el-GR" sz="2200" b="1" kern="1200" dirty="0"/>
        </a:p>
      </dsp:txBody>
      <dsp:txXfrm>
        <a:off x="3442" y="610560"/>
        <a:ext cx="3356865" cy="1342746"/>
      </dsp:txXfrm>
    </dsp:sp>
    <dsp:sp modelId="{5127692A-E41A-4C32-AAF9-0A201611FE9E}">
      <dsp:nvSpPr>
        <dsp:cNvPr id="0" name=""/>
        <dsp:cNvSpPr/>
      </dsp:nvSpPr>
      <dsp:spPr>
        <a:xfrm>
          <a:off x="3442" y="1953306"/>
          <a:ext cx="3356865" cy="2854800"/>
        </a:xfrm>
        <a:prstGeom prst="rect">
          <a:avLst/>
        </a:prstGeom>
        <a:solidFill>
          <a:srgbClr val="FEF4F9">
            <a:alpha val="90000"/>
          </a:srgb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>
              <a:solidFill>
                <a:schemeClr val="bg2">
                  <a:lumMod val="25000"/>
                </a:schemeClr>
              </a:solidFill>
            </a:rPr>
            <a:t>Overall proportion of correct predictions.</a:t>
          </a:r>
          <a:endParaRPr lang="el-GR" sz="1800" kern="1200" dirty="0">
            <a:solidFill>
              <a:schemeClr val="bg2">
                <a:lumMod val="25000"/>
              </a:schemeClr>
            </a:solidFill>
            <a:latin typeface="Aptos" panose="02110004020202020204"/>
            <a:ea typeface="+mn-ea"/>
            <a:cs typeface="+mn-cs"/>
          </a:endParaRPr>
        </a:p>
      </dsp:txBody>
      <dsp:txXfrm>
        <a:off x="3442" y="1953306"/>
        <a:ext cx="3356865" cy="2854800"/>
      </dsp:txXfrm>
    </dsp:sp>
    <dsp:sp modelId="{3E318949-E040-44C8-87BC-0F40D5CC3C64}">
      <dsp:nvSpPr>
        <dsp:cNvPr id="0" name=""/>
        <dsp:cNvSpPr/>
      </dsp:nvSpPr>
      <dsp:spPr>
        <a:xfrm>
          <a:off x="3830269" y="610560"/>
          <a:ext cx="3356865" cy="1342746"/>
        </a:xfrm>
        <a:prstGeom prst="rect">
          <a:avLst/>
        </a:prstGeom>
        <a:solidFill>
          <a:srgbClr val="9D173A"/>
        </a:solidFill>
        <a:ln w="19050" cap="flat" cmpd="sng" algn="ctr">
          <a:solidFill>
            <a:srgbClr val="9D173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bg1"/>
              </a:solidFill>
            </a:rPr>
            <a:t>Recall</a:t>
          </a:r>
          <a:endParaRPr lang="el-GR" sz="2200" b="1" kern="1200" dirty="0">
            <a:solidFill>
              <a:schemeClr val="bg1"/>
            </a:solidFill>
          </a:endParaRPr>
        </a:p>
      </dsp:txBody>
      <dsp:txXfrm>
        <a:off x="3830269" y="610560"/>
        <a:ext cx="3356865" cy="1342746"/>
      </dsp:txXfrm>
    </dsp:sp>
    <dsp:sp modelId="{FC643D8D-006E-4570-A23A-F66607F1BBD6}">
      <dsp:nvSpPr>
        <dsp:cNvPr id="0" name=""/>
        <dsp:cNvSpPr/>
      </dsp:nvSpPr>
      <dsp:spPr>
        <a:xfrm>
          <a:off x="3830269" y="1953306"/>
          <a:ext cx="3356865" cy="2854800"/>
        </a:xfrm>
        <a:prstGeom prst="rect">
          <a:avLst/>
        </a:prstGeom>
        <a:solidFill>
          <a:srgbClr val="FEF4F9">
            <a:alpha val="90000"/>
          </a:srgb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>
              <a:solidFill>
                <a:schemeClr val="bg2">
                  <a:lumMod val="25000"/>
                </a:schemeClr>
              </a:solidFill>
            </a:rPr>
            <a:t>Of all malignant tumors, how many our model correctly detect.</a:t>
          </a:r>
          <a:endParaRPr lang="el-GR" sz="1800" kern="1200" dirty="0">
            <a:solidFill>
              <a:schemeClr val="bg2">
                <a:lumMod val="25000"/>
              </a:schemeClr>
            </a:solidFill>
          </a:endParaRPr>
        </a:p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l-GR" sz="1800" kern="1200" dirty="0">
            <a:solidFill>
              <a:schemeClr val="bg2">
                <a:lumMod val="25000"/>
              </a:schemeClr>
            </a:solidFill>
          </a:endParaRPr>
        </a:p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>
              <a:solidFill>
                <a:schemeClr val="bg2">
                  <a:lumMod val="25000"/>
                </a:schemeClr>
              </a:solidFill>
            </a:rPr>
            <a:t>High Recall :</a:t>
          </a:r>
          <a:endParaRPr lang="el-GR" sz="1800" kern="1200" dirty="0">
            <a:solidFill>
              <a:schemeClr val="bg2">
                <a:lumMod val="25000"/>
              </a:schemeClr>
            </a:solidFill>
          </a:endParaRPr>
        </a:p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>
              <a:solidFill>
                <a:srgbClr val="E8E8E8">
                  <a:lumMod val="25000"/>
                </a:srgbClr>
              </a:solidFill>
              <a:latin typeface="Aptos" panose="02110004020202020204"/>
              <a:ea typeface="+mn-ea"/>
              <a:cs typeface="+mn-cs"/>
            </a:rPr>
            <a:t>We catch almost all malignant tumors.</a:t>
          </a:r>
          <a:endParaRPr lang="el-GR" sz="1800" kern="1200" dirty="0">
            <a:solidFill>
              <a:schemeClr val="bg2">
                <a:lumMod val="25000"/>
              </a:schemeClr>
            </a:solidFill>
          </a:endParaRPr>
        </a:p>
      </dsp:txBody>
      <dsp:txXfrm>
        <a:off x="3830269" y="1953306"/>
        <a:ext cx="3356865" cy="2854800"/>
      </dsp:txXfrm>
    </dsp:sp>
    <dsp:sp modelId="{4E2AE456-406B-4F0D-A535-0B7AF5AC7613}">
      <dsp:nvSpPr>
        <dsp:cNvPr id="0" name=""/>
        <dsp:cNvSpPr/>
      </dsp:nvSpPr>
      <dsp:spPr>
        <a:xfrm>
          <a:off x="7657096" y="610560"/>
          <a:ext cx="3356865" cy="1342746"/>
        </a:xfrm>
        <a:prstGeom prst="rect">
          <a:avLst/>
        </a:prstGeom>
        <a:solidFill>
          <a:srgbClr val="9D173A"/>
        </a:solidFill>
        <a:ln w="19050" cap="flat" cmpd="sng" algn="ctr">
          <a:solidFill>
            <a:srgbClr val="9D173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40" tIns="66040" rIns="66040" bIns="6604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bg1"/>
              </a:solidFill>
              <a:latin typeface="Aptos" panose="02110004020202020204"/>
              <a:ea typeface="+mn-ea"/>
              <a:cs typeface="+mn-cs"/>
            </a:rPr>
            <a:t>Precision</a:t>
          </a:r>
          <a:endParaRPr lang="el-GR" sz="2200" b="1" kern="1200" dirty="0">
            <a:solidFill>
              <a:schemeClr val="bg1"/>
            </a:solidFill>
            <a:latin typeface="Aptos" panose="02110004020202020204"/>
            <a:ea typeface="+mn-ea"/>
            <a:cs typeface="+mn-cs"/>
          </a:endParaRPr>
        </a:p>
      </dsp:txBody>
      <dsp:txXfrm>
        <a:off x="7657096" y="610560"/>
        <a:ext cx="3356865" cy="1342746"/>
      </dsp:txXfrm>
    </dsp:sp>
    <dsp:sp modelId="{204F957D-0A31-45FC-920A-7ACE3B9FA588}">
      <dsp:nvSpPr>
        <dsp:cNvPr id="0" name=""/>
        <dsp:cNvSpPr/>
      </dsp:nvSpPr>
      <dsp:spPr>
        <a:xfrm>
          <a:off x="7657096" y="1929925"/>
          <a:ext cx="3356865" cy="2854800"/>
        </a:xfrm>
        <a:prstGeom prst="rect">
          <a:avLst/>
        </a:prstGeom>
        <a:solidFill>
          <a:srgbClr val="FEF4F9">
            <a:alpha val="90000"/>
          </a:srgb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>
              <a:solidFill>
                <a:srgbClr val="E8E8E8">
                  <a:lumMod val="25000"/>
                </a:srgbClr>
              </a:solidFill>
              <a:latin typeface="Aptos" panose="02110004020202020204"/>
              <a:ea typeface="+mn-ea"/>
              <a:cs typeface="+mn-cs"/>
            </a:rPr>
            <a:t>Of all cases predicted malignant, how many really are malignant?</a:t>
          </a:r>
          <a:endParaRPr lang="el-GR" sz="1800" kern="1200" dirty="0">
            <a:solidFill>
              <a:srgbClr val="E8E8E8">
                <a:lumMod val="25000"/>
              </a:srgbClr>
            </a:solidFill>
            <a:latin typeface="Aptos" panose="02110004020202020204"/>
            <a:ea typeface="+mn-ea"/>
            <a:cs typeface="+mn-cs"/>
          </a:endParaRPr>
        </a:p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l-GR" sz="1800" kern="1200" dirty="0">
            <a:solidFill>
              <a:srgbClr val="E8E8E8">
                <a:lumMod val="25000"/>
              </a:srgbClr>
            </a:solidFill>
            <a:latin typeface="Aptos" panose="02110004020202020204"/>
            <a:ea typeface="+mn-ea"/>
            <a:cs typeface="+mn-cs"/>
          </a:endParaRPr>
        </a:p>
        <a:p>
          <a:pPr marL="171450" lvl="1" indent="-17145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>
              <a:solidFill>
                <a:srgbClr val="E8E8E8">
                  <a:lumMod val="25000"/>
                </a:srgbClr>
              </a:solidFill>
              <a:latin typeface="Aptos" panose="02110004020202020204"/>
              <a:ea typeface="+mn-ea"/>
              <a:cs typeface="+mn-cs"/>
            </a:rPr>
            <a:t>High Precision:</a:t>
          </a:r>
          <a:br>
            <a:rPr lang="en-US" sz="1800" kern="1200" dirty="0">
              <a:solidFill>
                <a:srgbClr val="E8E8E8">
                  <a:lumMod val="25000"/>
                </a:srgbClr>
              </a:solidFill>
              <a:latin typeface="Aptos" panose="02110004020202020204"/>
              <a:ea typeface="+mn-ea"/>
              <a:cs typeface="+mn-cs"/>
            </a:rPr>
          </a:br>
          <a:r>
            <a:rPr lang="en-US" sz="1800" kern="1200" dirty="0">
              <a:solidFill>
                <a:srgbClr val="E8E8E8">
                  <a:lumMod val="25000"/>
                </a:srgbClr>
              </a:solidFill>
              <a:latin typeface="Aptos" panose="02110004020202020204"/>
              <a:ea typeface="+mn-ea"/>
              <a:cs typeface="+mn-cs"/>
            </a:rPr>
            <a:t>few false alarms</a:t>
          </a:r>
          <a:endParaRPr lang="el-GR" sz="1800" kern="1200" dirty="0">
            <a:solidFill>
              <a:srgbClr val="E8E8E8">
                <a:lumMod val="25000"/>
              </a:srgbClr>
            </a:solidFill>
            <a:latin typeface="Aptos" panose="02110004020202020204"/>
            <a:ea typeface="+mn-ea"/>
            <a:cs typeface="+mn-cs"/>
          </a:endParaRPr>
        </a:p>
      </dsp:txBody>
      <dsp:txXfrm>
        <a:off x="7657096" y="1929925"/>
        <a:ext cx="3356865" cy="2854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CFF313-F256-47CB-BA32-8C4FC8160EF0}" type="datetimeFigureOut">
              <a:rPr lang="el-GR" smtClean="0"/>
              <a:t>28/2/26</a:t>
            </a:fld>
            <a:endParaRPr lang="el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DD64A-883B-4A7F-AFBF-9F3623EFEAB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451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DD64A-883B-4A7F-AFBF-9F3623EFEABE}" type="slidenum">
              <a:rPr lang="el-GR" smtClean="0"/>
              <a:t>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40971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BE018-9F59-5E85-17B4-1CE5AB77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2E4829-CC4B-E083-3D59-B3C6F68D2F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EE287-143C-799E-4940-6F159A4D2D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890D4-12C4-47C7-FC37-E712E9D89D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DD64A-883B-4A7F-AFBF-9F3623EFEABE}" type="slidenum">
              <a:rPr lang="el-GR" smtClean="0"/>
              <a:t>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43139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74A15-6270-5167-66E7-D6FC30CA3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0F729D-DE34-9F4B-C0F8-CFE06E04E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D8EC74-A5B3-911D-7E7B-A98CBFE82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A9D11-EA39-094B-FEA5-51A5251376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DD64A-883B-4A7F-AFBF-9F3623EFEABE}" type="slidenum">
              <a:rPr lang="el-GR" smtClean="0"/>
              <a:t>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43615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30840-D32A-C7F5-2317-0AC2A6E3B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1B5053-4C78-CA2D-F922-EC7BE8A34D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A0EE2F-0A0E-DD3A-7B77-119DC61542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B52B2-608E-AFB1-217A-E1DB31F55D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DD64A-883B-4A7F-AFBF-9F3623EFEABE}" type="slidenum">
              <a:rPr lang="el-GR" smtClean="0"/>
              <a:t>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95417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F2127-D70D-4471-BF46-D668BB666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6546E5-1E0A-7023-8842-BBB4BFFF74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CFA8A3-275D-DC70-7524-62B90DE7A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347A4-E183-917C-E5B4-31D9DEEB63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DD64A-883B-4A7F-AFBF-9F3623EFEABE}" type="slidenum">
              <a:rPr lang="el-GR" smtClean="0"/>
              <a:t>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43094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D386A-77B2-C931-1CBB-6EFF7ED13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18D91B-03A4-ED8F-890E-5E942C910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5DA747-F6A0-634E-B6FD-4D1F6C27BC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112FC-38DD-2C5B-0A26-46E221644A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DD64A-883B-4A7F-AFBF-9F3623EFEABE}" type="slidenum">
              <a:rPr lang="el-GR" smtClean="0"/>
              <a:t>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846979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C546A-2603-34FD-DF9B-65EAFDBEF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6E89C4-E425-842B-5A58-D067C5B14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03DED2-1107-B94B-D21E-1205FB0DE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8EC1A-A81A-5C49-594D-D8A98754A2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DD64A-883B-4A7F-AFBF-9F3623EFEABE}" type="slidenum">
              <a:rPr lang="el-GR" smtClean="0"/>
              <a:t>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8286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AD769-9FB3-E4B6-C9B5-BB38B8967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36B5EC-B1F4-D1A4-6F08-B0D8C1450B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1BC1A-7ADD-C9DC-45D7-DF4270AE5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69C7C-D1C6-4960-9809-56E13E543A0E}" type="datetimeFigureOut">
              <a:rPr lang="el-GR" smtClean="0"/>
              <a:t>28/2/26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ECD84-69DE-204B-43C4-7FE687E37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76FF9-679A-D023-1F29-4A7D9A2B9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9B68F-1D2A-4A4B-AC59-6604983BB3A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30573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C8C2D-02B9-669E-E59E-3B13F5F14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D9187-572F-C54C-D657-1F86639FD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F1525-E39A-2B6D-5854-ABBB55CDF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69C7C-D1C6-4960-9809-56E13E543A0E}" type="datetimeFigureOut">
              <a:rPr lang="el-GR" smtClean="0"/>
              <a:t>28/2/26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18409-E5E0-0EC3-AA39-77EAD374D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3A6C1-FDED-4805-E5C3-421AB0FB3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9B68F-1D2A-4A4B-AC59-6604983BB3A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35554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09798-A1DD-2836-3002-ECB73F6F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4052F-3906-38C0-5A4F-387FD8447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E6121-CC8A-FF34-5925-3192FEBB2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69C7C-D1C6-4960-9809-56E13E543A0E}" type="datetimeFigureOut">
              <a:rPr lang="el-GR" smtClean="0"/>
              <a:t>28/2/26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61306-176D-D9B5-32EA-AC85B9EA2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B5671-098A-C969-1778-C597C3395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9B68F-1D2A-4A4B-AC59-6604983BB3A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33732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3B060-0613-E063-69F5-B0A8F1FFE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D944A-AB04-A05F-62EF-6CF665D308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D91B3-A196-A242-FA21-ACA252BF7B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8ED74B-42AE-71A0-41DF-6A8A7D9DD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69C7C-D1C6-4960-9809-56E13E543A0E}" type="datetimeFigureOut">
              <a:rPr lang="el-GR" smtClean="0"/>
              <a:t>28/2/26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2F3698-63F5-1B07-F36A-4F69ABA61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A0BAFA-7506-E1EF-600B-5F0F4A801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9B68F-1D2A-4A4B-AC59-6604983BB3A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77997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36EF4-4C18-E6B4-1736-B7B62E1C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73DAB-58B2-A5CC-4DBB-62E3C04B0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F0848-EF7E-52DD-1457-5D18FA437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F1BCF2-4481-8B3B-A368-6D4865A85E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2843E4-46EF-E5C5-4AA2-8C8ECDE750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1859A3-25B4-20A6-3DB8-AEFFC2FCA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69C7C-D1C6-4960-9809-56E13E543A0E}" type="datetimeFigureOut">
              <a:rPr lang="el-GR" smtClean="0"/>
              <a:t>28/2/26</a:t>
            </a:fld>
            <a:endParaRPr lang="el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856498-FC3C-6B7A-2B3C-53E1F8B65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C573F3-59C6-8941-0DB1-6A070A465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9B68F-1D2A-4A4B-AC59-6604983BB3A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98957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3B83A-B1D6-4427-0952-62BFE27D1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F5D469-B6DE-82D8-2959-6293EF0A8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69C7C-D1C6-4960-9809-56E13E543A0E}" type="datetimeFigureOut">
              <a:rPr lang="el-GR" smtClean="0"/>
              <a:t>28/2/26</a:t>
            </a:fld>
            <a:endParaRPr lang="el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DD44F-BEB9-88B1-DDEC-0323E8694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E45E7F-05FB-38A8-ECBE-1FCC6F0B3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9B68F-1D2A-4A4B-AC59-6604983BB3A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61811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34ABB6-B5BE-91FB-1FA3-314C5859A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69C7C-D1C6-4960-9809-56E13E543A0E}" type="datetimeFigureOut">
              <a:rPr lang="el-GR" smtClean="0"/>
              <a:t>28/2/26</a:t>
            </a:fld>
            <a:endParaRPr lang="el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E2ACB8-E19D-8AEF-F250-283D865E9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C55E3-AEB9-C75E-D943-674CCFBB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9B68F-1D2A-4A4B-AC59-6604983BB3A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647246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A1197-9DA0-1AC5-D627-B88ACB788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E95B6-36A6-9327-0EFB-10DAF02E8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556C66-E451-E597-2F0E-0A6D5BF59E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10EF8-642F-EBAF-584E-2BEBED01D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69C7C-D1C6-4960-9809-56E13E543A0E}" type="datetimeFigureOut">
              <a:rPr lang="el-GR" smtClean="0"/>
              <a:t>28/2/26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B22AF9-9EDC-0D96-A66E-279879356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4060E-CF3F-EBF8-FF55-30C2460AD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9B68F-1D2A-4A4B-AC59-6604983BB3A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26457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06EA0-8D73-D22E-FD30-B23A2AA90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A675C3-02B8-6B71-2C9C-A9867F4B1A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61B011-8F55-FBC4-83B1-FEE168A37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49BD00-97EA-14EA-853E-D1660026B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69C7C-D1C6-4960-9809-56E13E543A0E}" type="datetimeFigureOut">
              <a:rPr lang="el-GR" smtClean="0"/>
              <a:t>28/2/26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165A0-9524-E77E-77C6-A359C40A6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F0AF-5D35-05C3-8989-5D89DCFA1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9B68F-1D2A-4A4B-AC59-6604983BB3A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41195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9C727-03BD-D680-5026-8D36413D9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D8A95C-20C7-AD43-F406-AE16CC84BA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2CDEC-8528-59A8-F6D6-CA4637DA6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69C7C-D1C6-4960-9809-56E13E543A0E}" type="datetimeFigureOut">
              <a:rPr lang="el-GR" smtClean="0"/>
              <a:t>28/2/26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7C416-D788-8C92-CE35-14AB68FF2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F883F-E66E-0244-38AF-4FAB893B1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9B68F-1D2A-4A4B-AC59-6604983BB3A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25934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8CC183-FAB8-6133-A648-1FC89888B2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9392C7-B151-F62A-1651-1E426E20D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20DEF-51EF-5BAE-CC61-1A946486E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69C7C-D1C6-4960-9809-56E13E543A0E}" type="datetimeFigureOut">
              <a:rPr lang="el-GR" smtClean="0"/>
              <a:t>28/2/26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347BB-85B3-0CA3-FF77-3484035D0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65FA3-4174-B128-E508-1ABBDDE20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9B68F-1D2A-4A4B-AC59-6604983BB3A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68536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6F0B06A5-0D98-E904-0589-E2C536F59E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9100923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25" imgH="424" progId="TCLayout.ActiveDocument.1">
                  <p:embed/>
                </p:oleObj>
              </mc:Choice>
              <mc:Fallback>
                <p:oleObj name="think-cell Slide" r:id="rId14" imgW="425" imgH="42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8B32B2-0F09-6D6A-B384-1A74FF3FB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5F105-BD55-F8F9-6DCA-6883567A5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FE29-7B81-799A-F359-68927A265E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769C7C-D1C6-4960-9809-56E13E543A0E}" type="datetimeFigureOut">
              <a:rPr lang="el-GR" smtClean="0"/>
              <a:t>28/2/26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C3106-771F-B713-FD23-F491110CF5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5D0AD-324D-E974-C167-0714C35CE0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E9B68F-1D2A-4A4B-AC59-6604983BB3A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9363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1.emf"/><Relationship Id="rId10" Type="http://schemas.openxmlformats.org/officeDocument/2006/relationships/image" Target="../media/image7.svg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chart" Target="../charts/chart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notesSlide" Target="../notesSlides/notesSlide4.xml"/><Relationship Id="rId7" Type="http://schemas.openxmlformats.org/officeDocument/2006/relationships/diagramData" Target="../diagrams/data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6" Type="http://schemas.openxmlformats.org/officeDocument/2006/relationships/image" Target="../media/image3.png"/><Relationship Id="rId11" Type="http://schemas.microsoft.com/office/2007/relationships/diagramDrawing" Target="../diagrams/drawing1.xml"/><Relationship Id="rId5" Type="http://schemas.openxmlformats.org/officeDocument/2006/relationships/image" Target="../media/image1.emf"/><Relationship Id="rId10" Type="http://schemas.openxmlformats.org/officeDocument/2006/relationships/diagramColors" Target="../diagrams/colors1.xml"/><Relationship Id="rId4" Type="http://schemas.openxmlformats.org/officeDocument/2006/relationships/oleObject" Target="../embeddings/oleObject2.bin"/><Relationship Id="rId9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10" Type="http://schemas.openxmlformats.org/officeDocument/2006/relationships/image" Target="../media/image16.svg"/><Relationship Id="rId4" Type="http://schemas.openxmlformats.org/officeDocument/2006/relationships/oleObject" Target="../embeddings/oleObject2.bin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2DAEF2E-8410-0995-4328-7281C9687A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169"/>
          <a:stretch>
            <a:fillRect/>
          </a:stretch>
        </p:blipFill>
        <p:spPr>
          <a:xfrm>
            <a:off x="0" y="0"/>
            <a:ext cx="6499319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A7B3BC-2858-F9C2-F533-7977A5A13EA3}"/>
              </a:ext>
            </a:extLst>
          </p:cNvPr>
          <p:cNvSpPr txBox="1"/>
          <p:nvPr/>
        </p:nvSpPr>
        <p:spPr>
          <a:xfrm>
            <a:off x="304799" y="226142"/>
            <a:ext cx="648929" cy="698090"/>
          </a:xfrm>
          <a:prstGeom prst="rect">
            <a:avLst/>
          </a:prstGeom>
          <a:solidFill>
            <a:srgbClr val="FEFCFD"/>
          </a:solidFill>
        </p:spPr>
        <p:txBody>
          <a:bodyPr wrap="square" rtlCol="0">
            <a:spAutoFit/>
          </a:bodyPr>
          <a:lstStyle/>
          <a:p>
            <a:endParaRPr lang="el-G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6F9423-C568-B61E-5B87-CB6B1497EA42}"/>
              </a:ext>
            </a:extLst>
          </p:cNvPr>
          <p:cNvSpPr txBox="1"/>
          <p:nvPr/>
        </p:nvSpPr>
        <p:spPr>
          <a:xfrm>
            <a:off x="5024284" y="2015613"/>
            <a:ext cx="59780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C21C47"/>
                </a:solidFill>
              </a:rPr>
              <a:t>Breast Cancer Classification Using Machine Learning</a:t>
            </a:r>
            <a:endParaRPr lang="el-GR" sz="3000" b="1" dirty="0">
              <a:solidFill>
                <a:srgbClr val="C21C4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2141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FAD514-8636-BFD7-7F1E-47FBDE69B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F3A5D0F-05E2-A638-5AFB-1B722F431B3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147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4B6C6990-B3CC-071B-FB73-F6629D5D0A23}"/>
              </a:ext>
            </a:extLst>
          </p:cNvPr>
          <p:cNvSpPr txBox="1"/>
          <p:nvPr/>
        </p:nvSpPr>
        <p:spPr>
          <a:xfrm>
            <a:off x="6096000" y="747220"/>
            <a:ext cx="5009052" cy="5475160"/>
          </a:xfrm>
          <a:prstGeom prst="rect">
            <a:avLst/>
          </a:prstGeom>
          <a:solidFill>
            <a:srgbClr val="FEF4F9"/>
          </a:solidFill>
        </p:spPr>
        <p:txBody>
          <a:bodyPr wrap="square" rtlCol="0">
            <a:noAutofit/>
          </a:bodyPr>
          <a:lstStyle/>
          <a:p>
            <a:endParaRPr lang="el-GR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D8A75D-C13A-558A-2D1B-83BDDED75EF4}"/>
              </a:ext>
            </a:extLst>
          </p:cNvPr>
          <p:cNvSpPr txBox="1"/>
          <p:nvPr/>
        </p:nvSpPr>
        <p:spPr>
          <a:xfrm>
            <a:off x="6198755" y="1657855"/>
            <a:ext cx="4906297" cy="3694730"/>
          </a:xfrm>
          <a:prstGeom prst="rect">
            <a:avLst/>
          </a:prstGeom>
          <a:noFill/>
          <a:ln>
            <a:noFill/>
          </a:ln>
        </p:spPr>
        <p:txBody>
          <a:bodyPr vert="horz" wrap="square" anchor="t" anchorCtr="0">
            <a:noAutofit/>
          </a:bodyPr>
          <a:lstStyle/>
          <a:p>
            <a:r>
              <a:rPr lang="en-US" sz="2000" dirty="0">
                <a:solidFill>
                  <a:srgbClr val="9D173A"/>
                </a:solidFill>
              </a:rPr>
              <a:t>Dataset: Breast Cancer Wisconsin(Kaggle)</a:t>
            </a:r>
          </a:p>
          <a:p>
            <a:endParaRPr lang="en-US" sz="2000" dirty="0">
              <a:solidFill>
                <a:srgbClr val="9D173A"/>
              </a:solidFill>
            </a:endParaRPr>
          </a:p>
          <a:p>
            <a:r>
              <a:rPr lang="en-US" sz="2000" dirty="0">
                <a:solidFill>
                  <a:srgbClr val="9D173A"/>
                </a:solidFill>
              </a:rPr>
              <a:t>Samples: 569</a:t>
            </a:r>
          </a:p>
          <a:p>
            <a:r>
              <a:rPr lang="en-US" sz="2000" dirty="0">
                <a:solidFill>
                  <a:srgbClr val="9D173A"/>
                </a:solidFill>
              </a:rPr>
              <a:t>Features: 31</a:t>
            </a:r>
            <a:r>
              <a:rPr lang="en-US" sz="1500" dirty="0">
                <a:solidFill>
                  <a:srgbClr val="9D173A"/>
                </a:solidFill>
              </a:rPr>
              <a:t>(1 target)</a:t>
            </a:r>
          </a:p>
          <a:p>
            <a:endParaRPr lang="en-US" sz="1500" dirty="0">
              <a:solidFill>
                <a:srgbClr val="9D173A"/>
              </a:solidFill>
            </a:endParaRPr>
          </a:p>
          <a:p>
            <a:endParaRPr lang="en-US" sz="1500" dirty="0">
              <a:solidFill>
                <a:srgbClr val="9D173A"/>
              </a:solidFill>
            </a:endParaRPr>
          </a:p>
          <a:p>
            <a:r>
              <a:rPr lang="en-US" sz="2000" b="1" dirty="0">
                <a:solidFill>
                  <a:srgbClr val="9D173A"/>
                </a:solidFill>
              </a:rPr>
              <a:t>Target</a:t>
            </a:r>
            <a:r>
              <a:rPr lang="en-US" sz="2000" dirty="0">
                <a:solidFill>
                  <a:srgbClr val="9D173A"/>
                </a:solidFill>
              </a:rPr>
              <a:t>: Diagnosis (M/B)</a:t>
            </a:r>
          </a:p>
          <a:p>
            <a:endParaRPr lang="en-US" sz="2000" dirty="0">
              <a:solidFill>
                <a:srgbClr val="9D173A"/>
              </a:solidFill>
            </a:endParaRPr>
          </a:p>
          <a:p>
            <a:r>
              <a:rPr lang="en-US" sz="2000" b="1" dirty="0">
                <a:solidFill>
                  <a:srgbClr val="9D173A"/>
                </a:solidFill>
              </a:rPr>
              <a:t>Classes</a:t>
            </a:r>
            <a:r>
              <a:rPr lang="en-US" sz="2000" dirty="0">
                <a:solidFill>
                  <a:srgbClr val="9D173A"/>
                </a:solidFill>
              </a:rPr>
              <a:t>: M(Malignant) </a:t>
            </a:r>
          </a:p>
          <a:p>
            <a:r>
              <a:rPr lang="en-US" sz="2000" dirty="0">
                <a:solidFill>
                  <a:srgbClr val="9D173A"/>
                </a:solidFill>
              </a:rPr>
              <a:t>                   B(Benign)</a:t>
            </a:r>
          </a:p>
          <a:p>
            <a:endParaRPr lang="en-US" sz="2000" dirty="0">
              <a:solidFill>
                <a:srgbClr val="9D173A"/>
              </a:solidFill>
            </a:endParaRPr>
          </a:p>
          <a:p>
            <a:endParaRPr lang="en-US" sz="2000" dirty="0">
              <a:solidFill>
                <a:srgbClr val="9D173A"/>
              </a:solidFill>
            </a:endParaRPr>
          </a:p>
          <a:p>
            <a:endParaRPr lang="el-GR" sz="2000" dirty="0">
              <a:solidFill>
                <a:srgbClr val="9D173A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06C509C-A582-3ECB-C19A-289DA622EA70}"/>
              </a:ext>
            </a:extLst>
          </p:cNvPr>
          <p:cNvSpPr/>
          <p:nvPr/>
        </p:nvSpPr>
        <p:spPr>
          <a:xfrm>
            <a:off x="726724" y="1930295"/>
            <a:ext cx="565354" cy="545691"/>
          </a:xfrm>
          <a:prstGeom prst="ellipse">
            <a:avLst/>
          </a:prstGeom>
          <a:solidFill>
            <a:srgbClr val="FDE7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9047FD-8287-D904-4D30-FF6F0A96EF98}"/>
              </a:ext>
            </a:extLst>
          </p:cNvPr>
          <p:cNvSpPr txBox="1"/>
          <p:nvPr/>
        </p:nvSpPr>
        <p:spPr>
          <a:xfrm>
            <a:off x="185946" y="747220"/>
            <a:ext cx="5009052" cy="5475160"/>
          </a:xfrm>
          <a:prstGeom prst="rect">
            <a:avLst/>
          </a:prstGeom>
          <a:solidFill>
            <a:srgbClr val="FEF4F9"/>
          </a:solidFill>
        </p:spPr>
        <p:txBody>
          <a:bodyPr wrap="square" rtlCol="0">
            <a:noAutofit/>
          </a:bodyPr>
          <a:lstStyle/>
          <a:p>
            <a:endParaRPr lang="el-G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DE6F6C-D415-2BBF-5F74-A1BE32B3AA26}"/>
              </a:ext>
            </a:extLst>
          </p:cNvPr>
          <p:cNvSpPr txBox="1"/>
          <p:nvPr/>
        </p:nvSpPr>
        <p:spPr>
          <a:xfrm>
            <a:off x="185946" y="747220"/>
            <a:ext cx="5009052" cy="482076"/>
          </a:xfrm>
          <a:prstGeom prst="rect">
            <a:avLst/>
          </a:prstGeom>
          <a:noFill/>
          <a:ln>
            <a:solidFill>
              <a:srgbClr val="9D173A"/>
            </a:solidFill>
          </a:ln>
        </p:spPr>
        <p:txBody>
          <a:bodyPr vert="horz" wrap="square" anchor="ctr" anchorCtr="0">
            <a:noAutofit/>
          </a:bodyPr>
          <a:lstStyle/>
          <a:p>
            <a:pPr algn="ctr"/>
            <a:r>
              <a:rPr lang="en-US" sz="2000" b="1" dirty="0">
                <a:solidFill>
                  <a:srgbClr val="9D173A"/>
                </a:solidFill>
              </a:rPr>
              <a:t>Team Members</a:t>
            </a:r>
            <a:endParaRPr lang="el-GR" sz="2000" b="1" dirty="0">
              <a:solidFill>
                <a:srgbClr val="9D173A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7C22DE-3AD8-20D4-1AAF-C58FE5266289}"/>
              </a:ext>
            </a:extLst>
          </p:cNvPr>
          <p:cNvCxnSpPr>
            <a:cxnSpLocks/>
          </p:cNvCxnSpPr>
          <p:nvPr/>
        </p:nvCxnSpPr>
        <p:spPr>
          <a:xfrm>
            <a:off x="0" y="475533"/>
            <a:ext cx="12143043" cy="32419"/>
          </a:xfrm>
          <a:prstGeom prst="line">
            <a:avLst/>
          </a:prstGeom>
          <a:ln>
            <a:solidFill>
              <a:srgbClr val="C21C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92C70FB-D336-3412-B455-EA9280CD7FE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04" t="4249" r="6856" b="7366"/>
          <a:stretch>
            <a:fillRect/>
          </a:stretch>
        </p:blipFill>
        <p:spPr>
          <a:xfrm>
            <a:off x="11843536" y="277994"/>
            <a:ext cx="334297" cy="395078"/>
          </a:xfrm>
          <a:prstGeom prst="ellipse">
            <a:avLst/>
          </a:prstGeom>
        </p:spPr>
      </p:pic>
      <p:pic>
        <p:nvPicPr>
          <p:cNvPr id="17" name="Graphic 16" descr="Group of women with solid fill">
            <a:extLst>
              <a:ext uri="{FF2B5EF4-FFF2-40B4-BE49-F238E27FC236}">
                <a16:creationId xmlns:a16="http://schemas.microsoft.com/office/drawing/2014/main" id="{52408D2E-01AA-14F9-C3B1-DEA82344F9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55207" y="790719"/>
            <a:ext cx="395078" cy="39507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09B70F6-7E11-05EA-F956-1C8358FCFCBF}"/>
              </a:ext>
            </a:extLst>
          </p:cNvPr>
          <p:cNvSpPr txBox="1"/>
          <p:nvPr/>
        </p:nvSpPr>
        <p:spPr>
          <a:xfrm>
            <a:off x="1328947" y="1898894"/>
            <a:ext cx="2770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9D173A"/>
                </a:solidFill>
              </a:rPr>
              <a:t>Vassia</a:t>
            </a:r>
            <a:r>
              <a:rPr lang="en-US" sz="2000" dirty="0">
                <a:solidFill>
                  <a:srgbClr val="9D173A"/>
                </a:solidFill>
              </a:rPr>
              <a:t> Galanopoulou</a:t>
            </a:r>
            <a:endParaRPr lang="el-GR" sz="2000" dirty="0">
              <a:solidFill>
                <a:srgbClr val="9D173A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59A06BF-2735-222A-0EB0-C6C78A81C90C}"/>
              </a:ext>
            </a:extLst>
          </p:cNvPr>
          <p:cNvSpPr/>
          <p:nvPr/>
        </p:nvSpPr>
        <p:spPr>
          <a:xfrm>
            <a:off x="726724" y="2877100"/>
            <a:ext cx="565354" cy="545691"/>
          </a:xfrm>
          <a:prstGeom prst="ellipse">
            <a:avLst/>
          </a:prstGeom>
          <a:solidFill>
            <a:srgbClr val="FDE7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26" name="Graphic 25" descr="Female Profile outline">
            <a:extLst>
              <a:ext uri="{FF2B5EF4-FFF2-40B4-BE49-F238E27FC236}">
                <a16:creationId xmlns:a16="http://schemas.microsoft.com/office/drawing/2014/main" id="{9415A00D-DE07-3FA9-FB31-8769A01E7FA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3594" y="2877100"/>
            <a:ext cx="491613" cy="49161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4DCDAC3-8D2C-2441-E1CF-B1F3364206A4}"/>
              </a:ext>
            </a:extLst>
          </p:cNvPr>
          <p:cNvSpPr txBox="1"/>
          <p:nvPr/>
        </p:nvSpPr>
        <p:spPr>
          <a:xfrm>
            <a:off x="1328948" y="2968603"/>
            <a:ext cx="2429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9D173A"/>
                </a:solidFill>
              </a:rPr>
              <a:t>Vasiliki </a:t>
            </a:r>
            <a:r>
              <a:rPr lang="en-US" sz="2000" dirty="0" err="1">
                <a:solidFill>
                  <a:srgbClr val="9D173A"/>
                </a:solidFill>
              </a:rPr>
              <a:t>Nterkou</a:t>
            </a:r>
            <a:endParaRPr lang="el-GR" sz="2000" dirty="0">
              <a:solidFill>
                <a:srgbClr val="9D173A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C8FBF8A-55A8-0797-0180-29ABC74AC323}"/>
              </a:ext>
            </a:extLst>
          </p:cNvPr>
          <p:cNvSpPr/>
          <p:nvPr/>
        </p:nvSpPr>
        <p:spPr>
          <a:xfrm>
            <a:off x="763594" y="3823905"/>
            <a:ext cx="565354" cy="545691"/>
          </a:xfrm>
          <a:prstGeom prst="ellipse">
            <a:avLst/>
          </a:prstGeom>
          <a:solidFill>
            <a:srgbClr val="FDE7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29" name="Graphic 28" descr="Female Profile outline">
            <a:extLst>
              <a:ext uri="{FF2B5EF4-FFF2-40B4-BE49-F238E27FC236}">
                <a16:creationId xmlns:a16="http://schemas.microsoft.com/office/drawing/2014/main" id="{505CFB12-F9DC-2148-A352-8539F647112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0464" y="3823905"/>
            <a:ext cx="491613" cy="49161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A8327A0-D145-9E51-2170-E22091457372}"/>
              </a:ext>
            </a:extLst>
          </p:cNvPr>
          <p:cNvSpPr txBox="1"/>
          <p:nvPr/>
        </p:nvSpPr>
        <p:spPr>
          <a:xfrm>
            <a:off x="1365818" y="3915408"/>
            <a:ext cx="26937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9D173A"/>
                </a:solidFill>
              </a:rPr>
              <a:t>Angeliki Triantafyllou</a:t>
            </a:r>
            <a:endParaRPr lang="el-GR" sz="2000" dirty="0">
              <a:solidFill>
                <a:srgbClr val="9D173A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38E6D57-C30E-6B8E-25E5-DC730CBCB748}"/>
              </a:ext>
            </a:extLst>
          </p:cNvPr>
          <p:cNvSpPr/>
          <p:nvPr/>
        </p:nvSpPr>
        <p:spPr>
          <a:xfrm>
            <a:off x="763594" y="1867369"/>
            <a:ext cx="565354" cy="545691"/>
          </a:xfrm>
          <a:prstGeom prst="ellipse">
            <a:avLst/>
          </a:prstGeom>
          <a:solidFill>
            <a:srgbClr val="FDE7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33" name="Graphic 32" descr="Female Profile outline">
            <a:extLst>
              <a:ext uri="{FF2B5EF4-FFF2-40B4-BE49-F238E27FC236}">
                <a16:creationId xmlns:a16="http://schemas.microsoft.com/office/drawing/2014/main" id="{E9F90C2B-DCAA-C4CA-8EAB-B81066E4B3E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0464" y="1867369"/>
            <a:ext cx="491613" cy="49161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1871423-ADE9-DFA7-F239-5631C4FF084D}"/>
              </a:ext>
            </a:extLst>
          </p:cNvPr>
          <p:cNvSpPr txBox="1"/>
          <p:nvPr/>
        </p:nvSpPr>
        <p:spPr>
          <a:xfrm>
            <a:off x="6096000" y="747220"/>
            <a:ext cx="5009052" cy="482076"/>
          </a:xfrm>
          <a:prstGeom prst="rect">
            <a:avLst/>
          </a:prstGeom>
          <a:noFill/>
          <a:ln>
            <a:solidFill>
              <a:srgbClr val="9D173A"/>
            </a:solidFill>
          </a:ln>
        </p:spPr>
        <p:txBody>
          <a:bodyPr vert="horz" wrap="square" anchor="ctr" anchorCtr="0">
            <a:noAutofit/>
          </a:bodyPr>
          <a:lstStyle/>
          <a:p>
            <a:pPr algn="ctr"/>
            <a:r>
              <a:rPr lang="en-US" sz="2000" b="1" dirty="0">
                <a:solidFill>
                  <a:srgbClr val="9D173A"/>
                </a:solidFill>
              </a:rPr>
              <a:t>Dataset Info</a:t>
            </a:r>
            <a:endParaRPr lang="el-GR" sz="2000" b="1" dirty="0">
              <a:solidFill>
                <a:srgbClr val="9D173A"/>
              </a:solidFill>
            </a:endParaRPr>
          </a:p>
        </p:txBody>
      </p:sp>
      <p:pic>
        <p:nvPicPr>
          <p:cNvPr id="41" name="Graphic 40" descr="Database outline">
            <a:extLst>
              <a:ext uri="{FF2B5EF4-FFF2-40B4-BE49-F238E27FC236}">
                <a16:creationId xmlns:a16="http://schemas.microsoft.com/office/drawing/2014/main" id="{3242B42D-CE3A-43B8-5807-EB041C8EFBA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18438" y="761016"/>
            <a:ext cx="424781" cy="42478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18E2A9C-6821-193F-0958-E1361EDA903A}"/>
              </a:ext>
            </a:extLst>
          </p:cNvPr>
          <p:cNvSpPr txBox="1"/>
          <p:nvPr/>
        </p:nvSpPr>
        <p:spPr>
          <a:xfrm>
            <a:off x="-34790" y="-14605"/>
            <a:ext cx="5009052" cy="482076"/>
          </a:xfrm>
          <a:prstGeom prst="rect">
            <a:avLst/>
          </a:prstGeom>
          <a:noFill/>
          <a:ln>
            <a:noFill/>
          </a:ln>
        </p:spPr>
        <p:txBody>
          <a:bodyPr vert="horz" wrap="square" anchor="ctr" anchorCtr="0">
            <a:noAutofit/>
          </a:bodyPr>
          <a:lstStyle/>
          <a:p>
            <a:r>
              <a:rPr lang="en-US" sz="2200" b="1" dirty="0">
                <a:solidFill>
                  <a:srgbClr val="9D173A"/>
                </a:solidFill>
              </a:rPr>
              <a:t>Project Overview &amp; Dataset</a:t>
            </a:r>
          </a:p>
        </p:txBody>
      </p:sp>
    </p:spTree>
    <p:extLst>
      <p:ext uri="{BB962C8B-B14F-4D97-AF65-F5344CB8AC3E}">
        <p14:creationId xmlns:p14="http://schemas.microsoft.com/office/powerpoint/2010/main" val="1934487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F87961-6179-1E06-A50C-FC83A8051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493E950-4F9B-E2C9-DAB2-483995BD44E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F3A5D0F-05E2-A638-5AFB-1B722F431B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6E430E-D5D3-EEA2-174E-6014E929B98B}"/>
              </a:ext>
            </a:extLst>
          </p:cNvPr>
          <p:cNvCxnSpPr>
            <a:cxnSpLocks/>
          </p:cNvCxnSpPr>
          <p:nvPr/>
        </p:nvCxnSpPr>
        <p:spPr>
          <a:xfrm>
            <a:off x="0" y="475533"/>
            <a:ext cx="12143043" cy="32419"/>
          </a:xfrm>
          <a:prstGeom prst="line">
            <a:avLst/>
          </a:prstGeom>
          <a:ln>
            <a:solidFill>
              <a:srgbClr val="C21C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9BAB5EB-C263-E614-8DC0-0C19B9D747F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04" t="4249" r="6856" b="7366"/>
          <a:stretch>
            <a:fillRect/>
          </a:stretch>
        </p:blipFill>
        <p:spPr>
          <a:xfrm>
            <a:off x="11843536" y="277994"/>
            <a:ext cx="334297" cy="395078"/>
          </a:xfrm>
          <a:prstGeom prst="ellipse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C9AA148D-EE99-92C7-79FF-4B1E18F24D6B}"/>
              </a:ext>
            </a:extLst>
          </p:cNvPr>
          <p:cNvSpPr txBox="1"/>
          <p:nvPr/>
        </p:nvSpPr>
        <p:spPr>
          <a:xfrm>
            <a:off x="-34790" y="-14605"/>
            <a:ext cx="5009052" cy="482076"/>
          </a:xfrm>
          <a:prstGeom prst="rect">
            <a:avLst/>
          </a:prstGeom>
          <a:noFill/>
          <a:ln>
            <a:noFill/>
          </a:ln>
        </p:spPr>
        <p:txBody>
          <a:bodyPr vert="horz" wrap="square" anchor="ctr" anchorCtr="0">
            <a:noAutofit/>
          </a:bodyPr>
          <a:lstStyle/>
          <a:p>
            <a:r>
              <a:rPr lang="en-US" sz="2200" b="1" dirty="0">
                <a:solidFill>
                  <a:srgbClr val="9D173A"/>
                </a:solidFill>
              </a:rPr>
              <a:t>Exploratory Data Analysis (EDA) </a:t>
            </a:r>
            <a:r>
              <a:rPr lang="en-US" b="1" dirty="0">
                <a:solidFill>
                  <a:srgbClr val="9D173A"/>
                </a:solidFill>
              </a:rPr>
              <a:t>(1/2)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4FF7989D-FD9F-778F-E7E4-C20ED51BC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707383"/>
              </p:ext>
            </p:extLst>
          </p:nvPr>
        </p:nvGraphicFramePr>
        <p:xfrm>
          <a:off x="6096000" y="830949"/>
          <a:ext cx="5386039" cy="3505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B15C187-EEEE-2E07-F575-9AA044AC4180}"/>
              </a:ext>
            </a:extLst>
          </p:cNvPr>
          <p:cNvSpPr txBox="1"/>
          <p:nvPr/>
        </p:nvSpPr>
        <p:spPr>
          <a:xfrm>
            <a:off x="646771" y="1101705"/>
            <a:ext cx="619450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Dataset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clean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no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missing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values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n-US" altLang="el-GR" sz="18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l-GR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l-GR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Removed Duplicate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Removed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 non-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informative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columns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l-GR" sz="18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l-GR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Slight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class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i="0" u="none" strike="noStrike" cap="none" normalizeH="0" baseline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imbalance</a:t>
            </a:r>
            <a:endParaRPr kumimoji="0" lang="el-GR" altLang="el-GR" sz="180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l-GR" altLang="el-GR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Benign</a:t>
            </a:r>
            <a:r>
              <a:rPr kumimoji="0" lang="el-GR" altLang="el-GR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: 357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l-GR" altLang="el-GR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Malignant</a:t>
            </a:r>
            <a:r>
              <a:rPr kumimoji="0" lang="el-GR" altLang="el-GR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: 212</a:t>
            </a:r>
            <a:endParaRPr kumimoji="0" lang="en-US" altLang="el-GR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l-GR" altLang="el-GR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382EF64-7E24-CC04-A098-BB2B7DBBA2E1}"/>
              </a:ext>
            </a:extLst>
          </p:cNvPr>
          <p:cNvSpPr/>
          <p:nvPr/>
        </p:nvSpPr>
        <p:spPr>
          <a:xfrm>
            <a:off x="245327" y="1130254"/>
            <a:ext cx="323385" cy="312234"/>
          </a:xfrm>
          <a:prstGeom prst="ellipse">
            <a:avLst/>
          </a:prstGeom>
          <a:solidFill>
            <a:srgbClr val="9D17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A7E215-1B6D-0AF3-AEFD-58E6185E2EE1}"/>
              </a:ext>
            </a:extLst>
          </p:cNvPr>
          <p:cNvSpPr txBox="1"/>
          <p:nvPr/>
        </p:nvSpPr>
        <p:spPr>
          <a:xfrm>
            <a:off x="256478" y="1101705"/>
            <a:ext cx="780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</a:t>
            </a:r>
            <a:endParaRPr lang="el-GR" b="1" dirty="0"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2CFE932-177D-428B-2DF5-002A9606D03E}"/>
              </a:ext>
            </a:extLst>
          </p:cNvPr>
          <p:cNvSpPr/>
          <p:nvPr/>
        </p:nvSpPr>
        <p:spPr>
          <a:xfrm>
            <a:off x="245327" y="1711134"/>
            <a:ext cx="323385" cy="312234"/>
          </a:xfrm>
          <a:prstGeom prst="ellipse">
            <a:avLst/>
          </a:prstGeom>
          <a:solidFill>
            <a:srgbClr val="9D17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30901D-8E0F-BF07-657D-100BBC9AB87D}"/>
              </a:ext>
            </a:extLst>
          </p:cNvPr>
          <p:cNvSpPr txBox="1"/>
          <p:nvPr/>
        </p:nvSpPr>
        <p:spPr>
          <a:xfrm>
            <a:off x="256478" y="1682585"/>
            <a:ext cx="780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2</a:t>
            </a:r>
            <a:endParaRPr lang="el-GR" b="1" dirty="0">
              <a:solidFill>
                <a:schemeClr val="bg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3AA9217-52EA-C543-55EF-F1012D17B1D6}"/>
              </a:ext>
            </a:extLst>
          </p:cNvPr>
          <p:cNvSpPr/>
          <p:nvPr/>
        </p:nvSpPr>
        <p:spPr>
          <a:xfrm>
            <a:off x="245327" y="2242977"/>
            <a:ext cx="323385" cy="312234"/>
          </a:xfrm>
          <a:prstGeom prst="ellipse">
            <a:avLst/>
          </a:prstGeom>
          <a:solidFill>
            <a:srgbClr val="9D17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378E1E-2661-3875-0996-BA6478911E3E}"/>
              </a:ext>
            </a:extLst>
          </p:cNvPr>
          <p:cNvSpPr txBox="1"/>
          <p:nvPr/>
        </p:nvSpPr>
        <p:spPr>
          <a:xfrm>
            <a:off x="256478" y="2214428"/>
            <a:ext cx="780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3</a:t>
            </a:r>
            <a:endParaRPr lang="el-GR" b="1" dirty="0">
              <a:solidFill>
                <a:schemeClr val="bg1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62479BD-5A33-AAFD-573A-56790CBF3171}"/>
              </a:ext>
            </a:extLst>
          </p:cNvPr>
          <p:cNvSpPr/>
          <p:nvPr/>
        </p:nvSpPr>
        <p:spPr>
          <a:xfrm>
            <a:off x="245327" y="2836970"/>
            <a:ext cx="323385" cy="312234"/>
          </a:xfrm>
          <a:prstGeom prst="ellipse">
            <a:avLst/>
          </a:prstGeom>
          <a:solidFill>
            <a:srgbClr val="9D17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9C8A1A7-1DE0-FEDA-6C00-543E8BCD00A7}"/>
              </a:ext>
            </a:extLst>
          </p:cNvPr>
          <p:cNvSpPr txBox="1"/>
          <p:nvPr/>
        </p:nvSpPr>
        <p:spPr>
          <a:xfrm>
            <a:off x="256478" y="2808421"/>
            <a:ext cx="780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4</a:t>
            </a:r>
            <a:endParaRPr lang="el-G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2567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0B130C-D762-C50C-7DCB-1CCBE5EA4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EC696B2-35AC-2E4E-EE37-BA1FE0C8A7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493E950-4F9B-E2C9-DAB2-483995BD44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DF2FF69-D02C-C9F2-7586-B2F8489E66ED}"/>
              </a:ext>
            </a:extLst>
          </p:cNvPr>
          <p:cNvCxnSpPr>
            <a:cxnSpLocks/>
          </p:cNvCxnSpPr>
          <p:nvPr/>
        </p:nvCxnSpPr>
        <p:spPr>
          <a:xfrm>
            <a:off x="0" y="475533"/>
            <a:ext cx="12143043" cy="32419"/>
          </a:xfrm>
          <a:prstGeom prst="line">
            <a:avLst/>
          </a:prstGeom>
          <a:ln>
            <a:solidFill>
              <a:srgbClr val="C21C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AA56511-7833-C3D9-DB44-49D9D18D872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04" t="4249" r="6856" b="7366"/>
          <a:stretch>
            <a:fillRect/>
          </a:stretch>
        </p:blipFill>
        <p:spPr>
          <a:xfrm>
            <a:off x="11831868" y="233615"/>
            <a:ext cx="334297" cy="395078"/>
          </a:xfrm>
          <a:prstGeom prst="ellipse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6FB0DDBE-4993-24DA-BAAF-2CD2718FC081}"/>
              </a:ext>
            </a:extLst>
          </p:cNvPr>
          <p:cNvSpPr txBox="1"/>
          <p:nvPr/>
        </p:nvSpPr>
        <p:spPr>
          <a:xfrm>
            <a:off x="-34790" y="-14605"/>
            <a:ext cx="5009052" cy="482076"/>
          </a:xfrm>
          <a:prstGeom prst="rect">
            <a:avLst/>
          </a:prstGeom>
          <a:noFill/>
          <a:ln>
            <a:noFill/>
          </a:ln>
        </p:spPr>
        <p:txBody>
          <a:bodyPr vert="horz" wrap="square" anchor="ctr" anchorCtr="0">
            <a:noAutofit/>
          </a:bodyPr>
          <a:lstStyle/>
          <a:p>
            <a:r>
              <a:rPr lang="en-US" sz="2200" b="1" dirty="0">
                <a:solidFill>
                  <a:srgbClr val="9D173A"/>
                </a:solidFill>
              </a:rPr>
              <a:t>Exploratory Data Analysis (EDA) </a:t>
            </a:r>
            <a:r>
              <a:rPr lang="en-US" b="1" dirty="0">
                <a:solidFill>
                  <a:srgbClr val="9D173A"/>
                </a:solidFill>
              </a:rPr>
              <a:t>(2/2)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F0E216-C177-AEC1-9192-4561B9A09F87}"/>
              </a:ext>
            </a:extLst>
          </p:cNvPr>
          <p:cNvSpPr txBox="1"/>
          <p:nvPr/>
        </p:nvSpPr>
        <p:spPr>
          <a:xfrm>
            <a:off x="8234231" y="1145279"/>
            <a:ext cx="3980988" cy="180230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Strong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correlations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among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geometric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features</a:t>
            </a:r>
            <a:r>
              <a:rPr kumimoji="0" lang="en-US" altLang="el-GR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 (</a:t>
            </a:r>
            <a:r>
              <a:rPr lang="en-US" dirty="0"/>
              <a:t>radius, perimeter, area)</a:t>
            </a: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B330421-249B-32DF-34C4-0C6458D431BA}"/>
              </a:ext>
            </a:extLst>
          </p:cNvPr>
          <p:cNvSpPr/>
          <p:nvPr/>
        </p:nvSpPr>
        <p:spPr>
          <a:xfrm>
            <a:off x="7843939" y="1293426"/>
            <a:ext cx="323385" cy="312234"/>
          </a:xfrm>
          <a:prstGeom prst="ellipse">
            <a:avLst/>
          </a:prstGeom>
          <a:solidFill>
            <a:srgbClr val="9D17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B9598F-FCB7-C57C-B6AC-AB92704DF3A8}"/>
              </a:ext>
            </a:extLst>
          </p:cNvPr>
          <p:cNvSpPr txBox="1"/>
          <p:nvPr/>
        </p:nvSpPr>
        <p:spPr>
          <a:xfrm>
            <a:off x="7843939" y="1264877"/>
            <a:ext cx="780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</a:t>
            </a:r>
            <a:endParaRPr lang="el-GR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8069FD-BAED-3BE5-7E38-C6DB168D71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4" t="1103" r="2975" b="2082"/>
          <a:stretch>
            <a:fillRect/>
          </a:stretch>
        </p:blipFill>
        <p:spPr>
          <a:xfrm>
            <a:off x="60392" y="805852"/>
            <a:ext cx="7460167" cy="568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935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AD960A-ED6A-4F20-80FD-EB5B4A67E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1A28D31-5FDF-1F8F-9771-CCF6BC551F3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C696B2-35AC-2E4E-EE37-BA1FE0C8A7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6DE947-EC4A-58F2-0626-738758639C10}"/>
              </a:ext>
            </a:extLst>
          </p:cNvPr>
          <p:cNvCxnSpPr>
            <a:cxnSpLocks/>
          </p:cNvCxnSpPr>
          <p:nvPr/>
        </p:nvCxnSpPr>
        <p:spPr>
          <a:xfrm>
            <a:off x="0" y="475533"/>
            <a:ext cx="12143043" cy="32419"/>
          </a:xfrm>
          <a:prstGeom prst="line">
            <a:avLst/>
          </a:prstGeom>
          <a:ln>
            <a:solidFill>
              <a:srgbClr val="C21C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1141E0F-3A93-A661-4010-CDFE638ADCD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04" t="4249" r="6856" b="7366"/>
          <a:stretch>
            <a:fillRect/>
          </a:stretch>
        </p:blipFill>
        <p:spPr>
          <a:xfrm>
            <a:off x="11843536" y="277994"/>
            <a:ext cx="334297" cy="395078"/>
          </a:xfrm>
          <a:prstGeom prst="ellipse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41C112C-1A4C-6440-88BA-80E950B4577C}"/>
              </a:ext>
            </a:extLst>
          </p:cNvPr>
          <p:cNvSpPr txBox="1"/>
          <p:nvPr/>
        </p:nvSpPr>
        <p:spPr>
          <a:xfrm>
            <a:off x="-34790" y="-14605"/>
            <a:ext cx="5009052" cy="482076"/>
          </a:xfrm>
          <a:prstGeom prst="rect">
            <a:avLst/>
          </a:prstGeom>
          <a:noFill/>
          <a:ln>
            <a:noFill/>
          </a:ln>
        </p:spPr>
        <p:txBody>
          <a:bodyPr vert="horz" wrap="square" anchor="ctr" anchorCtr="0">
            <a:noAutofit/>
          </a:bodyPr>
          <a:lstStyle/>
          <a:p>
            <a:r>
              <a:rPr lang="en-US" sz="2200" b="1" dirty="0">
                <a:solidFill>
                  <a:srgbClr val="9D173A"/>
                </a:solidFill>
              </a:rPr>
              <a:t>Evaluation Metrics</a:t>
            </a:r>
            <a:endParaRPr lang="en-US" b="1" dirty="0">
              <a:solidFill>
                <a:srgbClr val="9D173A"/>
              </a:solidFill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6C13442-BDBF-F5BA-7CC2-0F76753966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529680"/>
              </p:ext>
            </p:extLst>
          </p:nvPr>
        </p:nvGraphicFramePr>
        <p:xfrm>
          <a:off x="587297" y="516014"/>
          <a:ext cx="11017405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577120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AA7D5-D40E-A68E-975F-74A652DC8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2D2CD8B-4A10-56DB-E571-F2B7314E3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1A28D31-5FDF-1F8F-9771-CCF6BC551F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FD545F1-A5CE-2183-859E-2AAE74E8F63A}"/>
              </a:ext>
            </a:extLst>
          </p:cNvPr>
          <p:cNvCxnSpPr>
            <a:cxnSpLocks/>
          </p:cNvCxnSpPr>
          <p:nvPr/>
        </p:nvCxnSpPr>
        <p:spPr>
          <a:xfrm>
            <a:off x="0" y="475533"/>
            <a:ext cx="12143043" cy="32419"/>
          </a:xfrm>
          <a:prstGeom prst="line">
            <a:avLst/>
          </a:prstGeom>
          <a:ln>
            <a:solidFill>
              <a:srgbClr val="C21C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C287922-F3E8-D45C-220D-5B4B0ED9DE1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04" t="4249" r="6856" b="7366"/>
          <a:stretch>
            <a:fillRect/>
          </a:stretch>
        </p:blipFill>
        <p:spPr>
          <a:xfrm>
            <a:off x="11843536" y="277994"/>
            <a:ext cx="334297" cy="395078"/>
          </a:xfrm>
          <a:prstGeom prst="ellipse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F30B581D-5CD5-2873-1679-F1FDD472B428}"/>
              </a:ext>
            </a:extLst>
          </p:cNvPr>
          <p:cNvSpPr txBox="1"/>
          <p:nvPr/>
        </p:nvSpPr>
        <p:spPr>
          <a:xfrm>
            <a:off x="-34790" y="-14605"/>
            <a:ext cx="5009052" cy="482076"/>
          </a:xfrm>
          <a:prstGeom prst="rect">
            <a:avLst/>
          </a:prstGeom>
          <a:noFill/>
          <a:ln>
            <a:noFill/>
          </a:ln>
        </p:spPr>
        <p:txBody>
          <a:bodyPr vert="horz" wrap="square" anchor="ctr" anchorCtr="0">
            <a:noAutofit/>
          </a:bodyPr>
          <a:lstStyle/>
          <a:p>
            <a:r>
              <a:rPr lang="en-US" sz="2200" b="1" dirty="0">
                <a:solidFill>
                  <a:srgbClr val="9D173A"/>
                </a:solidFill>
              </a:rPr>
              <a:t>Model Performance Comparison</a:t>
            </a:r>
            <a:r>
              <a:rPr lang="en-US" b="1" dirty="0">
                <a:solidFill>
                  <a:srgbClr val="9D173A"/>
                </a:solidFill>
              </a:rPr>
              <a:t>(1/2)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CC46BA-61E8-CC95-BF1C-AA1CF3B6A2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25" y="1018123"/>
            <a:ext cx="11084312" cy="517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341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2A7A37-B993-4CC6-F833-496FCD62D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2808362-B915-5ABA-9A52-C93541E1E73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D2CD8B-4A10-56DB-E571-F2B7314E3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05E927-B439-B296-77CA-5DD09BFD7282}"/>
              </a:ext>
            </a:extLst>
          </p:cNvPr>
          <p:cNvCxnSpPr>
            <a:cxnSpLocks/>
          </p:cNvCxnSpPr>
          <p:nvPr/>
        </p:nvCxnSpPr>
        <p:spPr>
          <a:xfrm>
            <a:off x="0" y="475533"/>
            <a:ext cx="12143043" cy="32419"/>
          </a:xfrm>
          <a:prstGeom prst="line">
            <a:avLst/>
          </a:prstGeom>
          <a:ln>
            <a:solidFill>
              <a:srgbClr val="C21C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C0868F1-38E6-2DEF-6365-46286402302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04" t="4249" r="6856" b="7366"/>
          <a:stretch>
            <a:fillRect/>
          </a:stretch>
        </p:blipFill>
        <p:spPr>
          <a:xfrm>
            <a:off x="11843536" y="277994"/>
            <a:ext cx="334297" cy="395078"/>
          </a:xfrm>
          <a:prstGeom prst="ellipse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13CAB47B-B0ED-FB97-DD7C-760CD10FBFE1}"/>
              </a:ext>
            </a:extLst>
          </p:cNvPr>
          <p:cNvSpPr txBox="1"/>
          <p:nvPr/>
        </p:nvSpPr>
        <p:spPr>
          <a:xfrm>
            <a:off x="-34790" y="-14605"/>
            <a:ext cx="5009052" cy="482076"/>
          </a:xfrm>
          <a:prstGeom prst="rect">
            <a:avLst/>
          </a:prstGeom>
          <a:noFill/>
          <a:ln>
            <a:noFill/>
          </a:ln>
        </p:spPr>
        <p:txBody>
          <a:bodyPr vert="horz" wrap="square" anchor="ctr" anchorCtr="0">
            <a:noAutofit/>
          </a:bodyPr>
          <a:lstStyle/>
          <a:p>
            <a:r>
              <a:rPr lang="en-US" sz="2200" b="1" dirty="0">
                <a:solidFill>
                  <a:srgbClr val="9D173A"/>
                </a:solidFill>
              </a:rPr>
              <a:t>Model Performance Comparison</a:t>
            </a:r>
            <a:r>
              <a:rPr lang="en-US" b="1" dirty="0">
                <a:solidFill>
                  <a:srgbClr val="9D173A"/>
                </a:solidFill>
              </a:rPr>
              <a:t>(2/2)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3447CE-445A-45C4-FE53-BF5784D1BD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0611"/>
            <a:ext cx="12192000" cy="473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06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23D572-380C-9843-0F32-C768F9810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D864038-846A-AB68-FA98-48791AE428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2808362-B915-5ABA-9A52-C93541E1E7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3EC93A6-CA85-61FC-1B0B-C12166450192}"/>
              </a:ext>
            </a:extLst>
          </p:cNvPr>
          <p:cNvCxnSpPr>
            <a:cxnSpLocks/>
          </p:cNvCxnSpPr>
          <p:nvPr/>
        </p:nvCxnSpPr>
        <p:spPr>
          <a:xfrm>
            <a:off x="0" y="475533"/>
            <a:ext cx="12143043" cy="32419"/>
          </a:xfrm>
          <a:prstGeom prst="line">
            <a:avLst/>
          </a:prstGeom>
          <a:ln>
            <a:solidFill>
              <a:srgbClr val="C21C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EF8C6FD-DE29-F859-ABA8-A813A0F65D8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04" t="4249" r="6856" b="7366"/>
          <a:stretch>
            <a:fillRect/>
          </a:stretch>
        </p:blipFill>
        <p:spPr>
          <a:xfrm>
            <a:off x="11843536" y="277994"/>
            <a:ext cx="334297" cy="395078"/>
          </a:xfrm>
          <a:prstGeom prst="ellipse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72B8E442-B61E-196A-1636-E22CF1A52D5F}"/>
              </a:ext>
            </a:extLst>
          </p:cNvPr>
          <p:cNvSpPr txBox="1"/>
          <p:nvPr/>
        </p:nvSpPr>
        <p:spPr>
          <a:xfrm>
            <a:off x="-34790" y="-14605"/>
            <a:ext cx="5009052" cy="482076"/>
          </a:xfrm>
          <a:prstGeom prst="rect">
            <a:avLst/>
          </a:prstGeom>
          <a:noFill/>
          <a:ln>
            <a:noFill/>
          </a:ln>
        </p:spPr>
        <p:txBody>
          <a:bodyPr vert="horz" wrap="square" anchor="ctr" anchorCtr="0">
            <a:noAutofit/>
          </a:bodyPr>
          <a:lstStyle/>
          <a:p>
            <a:r>
              <a:rPr lang="en-US" b="1" dirty="0">
                <a:solidFill>
                  <a:srgbClr val="9D173A"/>
                </a:solidFill>
              </a:rPr>
              <a:t>Best Model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ABCB67-B33B-54E0-D311-3287925B84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5491"/>
            <a:ext cx="5446144" cy="43184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41063F-C1C9-6F81-216F-6F1484078D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737910"/>
            <a:ext cx="5496232" cy="42860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1509B7F-2F94-12AE-9CEB-6DBA6252248D}"/>
              </a:ext>
            </a:extLst>
          </p:cNvPr>
          <p:cNvSpPr txBox="1"/>
          <p:nvPr/>
        </p:nvSpPr>
        <p:spPr>
          <a:xfrm>
            <a:off x="423746" y="5234507"/>
            <a:ext cx="544614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9D173A"/>
                </a:solidFill>
              </a:rPr>
              <a:t>True Negative (TN):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Model predicts benign → actually benign (correct prediction)</a:t>
            </a:r>
          </a:p>
          <a:p>
            <a:br>
              <a:rPr lang="el-GR" dirty="0"/>
            </a:br>
            <a:r>
              <a:rPr lang="en-US" b="1" dirty="0">
                <a:solidFill>
                  <a:srgbClr val="9D173A"/>
                </a:solidFill>
              </a:rPr>
              <a:t>False Negative (FN):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Model predicts benign → actually malignant (dangerous mistake)</a:t>
            </a:r>
            <a:br>
              <a:rPr lang="el-GR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l-G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013155-6506-BBE5-FCBF-614451A2AFE6}"/>
              </a:ext>
            </a:extLst>
          </p:cNvPr>
          <p:cNvSpPr txBox="1"/>
          <p:nvPr/>
        </p:nvSpPr>
        <p:spPr>
          <a:xfrm>
            <a:off x="6322111" y="5242927"/>
            <a:ext cx="552142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9D173A"/>
                </a:solidFill>
              </a:rPr>
              <a:t>False Positive  (FP):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Model predicts malignant → actually benign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en-US" dirty="0"/>
          </a:p>
          <a:p>
            <a:r>
              <a:rPr lang="en-US" b="1" dirty="0">
                <a:solidFill>
                  <a:srgbClr val="9D173A"/>
                </a:solidFill>
              </a:rPr>
              <a:t>True Positive (TP):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Model predicts malignant → actually malignant (correct prediction)</a:t>
            </a:r>
          </a:p>
          <a:p>
            <a:endParaRPr lang="el-GR" dirty="0"/>
          </a:p>
        </p:txBody>
      </p:sp>
      <p:pic>
        <p:nvPicPr>
          <p:cNvPr id="16" name="Graphic 15" descr="Lightbulb and gear outline">
            <a:extLst>
              <a:ext uri="{FF2B5EF4-FFF2-40B4-BE49-F238E27FC236}">
                <a16:creationId xmlns:a16="http://schemas.microsoft.com/office/drawing/2014/main" id="{3C305E19-3590-CBF1-E76C-5B1C4BD16CD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5276380"/>
            <a:ext cx="436896" cy="436896"/>
          </a:xfrm>
          <a:prstGeom prst="rect">
            <a:avLst/>
          </a:prstGeom>
        </p:spPr>
      </p:pic>
      <p:pic>
        <p:nvPicPr>
          <p:cNvPr id="17" name="Graphic 16" descr="Lightbulb and gear outline">
            <a:extLst>
              <a:ext uri="{FF2B5EF4-FFF2-40B4-BE49-F238E27FC236}">
                <a16:creationId xmlns:a16="http://schemas.microsoft.com/office/drawing/2014/main" id="{8E7D57B7-ED5D-8265-E53F-2A7B93909A1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85215" y="5276380"/>
            <a:ext cx="436896" cy="4368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D6C85B-341A-2F9A-F722-2F4CA2E54515}"/>
              </a:ext>
            </a:extLst>
          </p:cNvPr>
          <p:cNvSpPr txBox="1"/>
          <p:nvPr/>
        </p:nvSpPr>
        <p:spPr>
          <a:xfrm>
            <a:off x="1345765" y="2138251"/>
            <a:ext cx="692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9D173A"/>
                </a:solidFill>
              </a:rPr>
              <a:t>TN</a:t>
            </a:r>
            <a:endParaRPr lang="el-GR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3E584F-83E8-D12F-3C5F-3486A7CE0690}"/>
              </a:ext>
            </a:extLst>
          </p:cNvPr>
          <p:cNvSpPr txBox="1"/>
          <p:nvPr/>
        </p:nvSpPr>
        <p:spPr>
          <a:xfrm>
            <a:off x="3601382" y="2142461"/>
            <a:ext cx="692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9D173A"/>
                </a:solidFill>
              </a:rPr>
              <a:t>FP</a:t>
            </a:r>
            <a:endParaRPr lang="el-GR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3CAD67-8FC5-FB5B-786F-E65C7DBEA05B}"/>
              </a:ext>
            </a:extLst>
          </p:cNvPr>
          <p:cNvSpPr txBox="1"/>
          <p:nvPr/>
        </p:nvSpPr>
        <p:spPr>
          <a:xfrm>
            <a:off x="1345765" y="3770356"/>
            <a:ext cx="692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9D173A"/>
                </a:solidFill>
              </a:rPr>
              <a:t>FN</a:t>
            </a:r>
            <a:endParaRPr lang="el-GR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990782-41D8-9987-0E32-42F64F9FA1C4}"/>
              </a:ext>
            </a:extLst>
          </p:cNvPr>
          <p:cNvSpPr txBox="1"/>
          <p:nvPr/>
        </p:nvSpPr>
        <p:spPr>
          <a:xfrm>
            <a:off x="3601382" y="3770355"/>
            <a:ext cx="692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9D173A"/>
                </a:solidFill>
              </a:rPr>
              <a:t>TP</a:t>
            </a:r>
            <a:endParaRPr lang="el-GR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907B34-220A-736F-E465-B2D5A91D0C63}"/>
              </a:ext>
            </a:extLst>
          </p:cNvPr>
          <p:cNvSpPr txBox="1"/>
          <p:nvPr/>
        </p:nvSpPr>
        <p:spPr>
          <a:xfrm>
            <a:off x="7492195" y="2134041"/>
            <a:ext cx="692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9D173A"/>
                </a:solidFill>
              </a:rPr>
              <a:t>TN</a:t>
            </a:r>
            <a:endParaRPr lang="el-GR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767DC8-BF80-A5AA-4B9C-DC78EA94CB15}"/>
              </a:ext>
            </a:extLst>
          </p:cNvPr>
          <p:cNvSpPr txBox="1"/>
          <p:nvPr/>
        </p:nvSpPr>
        <p:spPr>
          <a:xfrm>
            <a:off x="9747812" y="2138251"/>
            <a:ext cx="692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9D173A"/>
                </a:solidFill>
              </a:rPr>
              <a:t>FP</a:t>
            </a:r>
            <a:endParaRPr lang="el-GR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A96537-8D03-35AC-A741-7E67817F44F8}"/>
              </a:ext>
            </a:extLst>
          </p:cNvPr>
          <p:cNvSpPr txBox="1"/>
          <p:nvPr/>
        </p:nvSpPr>
        <p:spPr>
          <a:xfrm>
            <a:off x="7492195" y="3766146"/>
            <a:ext cx="692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9D173A"/>
                </a:solidFill>
              </a:rPr>
              <a:t>FN</a:t>
            </a:r>
            <a:endParaRPr lang="el-GR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BA5A57-4626-BA18-841D-34D22EEAEB1E}"/>
              </a:ext>
            </a:extLst>
          </p:cNvPr>
          <p:cNvSpPr txBox="1"/>
          <p:nvPr/>
        </p:nvSpPr>
        <p:spPr>
          <a:xfrm>
            <a:off x="9747812" y="3766145"/>
            <a:ext cx="692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9D173A"/>
                </a:solidFill>
              </a:rPr>
              <a:t>TP</a:t>
            </a:r>
            <a:endParaRPr lang="el-GR" sz="2400" dirty="0"/>
          </a:p>
        </p:txBody>
      </p:sp>
    </p:spTree>
    <p:extLst>
      <p:ext uri="{BB962C8B-B14F-4D97-AF65-F5344CB8AC3E}">
        <p14:creationId xmlns:p14="http://schemas.microsoft.com/office/powerpoint/2010/main" val="1081183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80B069-74BC-997E-2D78-FE511105F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14EFEE9-A9A1-E355-58B3-7C6E1A58D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169"/>
          <a:stretch>
            <a:fillRect/>
          </a:stretch>
        </p:blipFill>
        <p:spPr>
          <a:xfrm>
            <a:off x="0" y="0"/>
            <a:ext cx="6499319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0B8752-90DD-EA69-C61B-E67C0D12AC61}"/>
              </a:ext>
            </a:extLst>
          </p:cNvPr>
          <p:cNvSpPr txBox="1"/>
          <p:nvPr/>
        </p:nvSpPr>
        <p:spPr>
          <a:xfrm>
            <a:off x="304799" y="226142"/>
            <a:ext cx="648929" cy="698090"/>
          </a:xfrm>
          <a:prstGeom prst="rect">
            <a:avLst/>
          </a:prstGeom>
          <a:solidFill>
            <a:srgbClr val="FEFCFD"/>
          </a:solidFill>
        </p:spPr>
        <p:txBody>
          <a:bodyPr wrap="square" rtlCol="0">
            <a:spAutoFit/>
          </a:bodyPr>
          <a:lstStyle/>
          <a:p>
            <a:endParaRPr lang="el-G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6D293C-6E5A-0F56-BA02-E976A3D59DFF}"/>
              </a:ext>
            </a:extLst>
          </p:cNvPr>
          <p:cNvSpPr txBox="1"/>
          <p:nvPr/>
        </p:nvSpPr>
        <p:spPr>
          <a:xfrm>
            <a:off x="5682203" y="2015613"/>
            <a:ext cx="59780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C21C47"/>
                </a:solidFill>
              </a:rPr>
              <a:t>Thank you.</a:t>
            </a:r>
            <a:endParaRPr lang="el-GR" sz="3000" b="1" dirty="0">
              <a:solidFill>
                <a:srgbClr val="C21C4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76714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263</Words>
  <Application>Microsoft Macintosh PowerPoint</Application>
  <PresentationFormat>Widescreen</PresentationFormat>
  <Paragraphs>71</Paragraphs>
  <Slides>9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Aggeliki Triantafyllou</dc:creator>
  <cp:lastModifiedBy>Microsoft Office User</cp:lastModifiedBy>
  <cp:revision>12</cp:revision>
  <dcterms:created xsi:type="dcterms:W3CDTF">2026-02-28T08:58:12Z</dcterms:created>
  <dcterms:modified xsi:type="dcterms:W3CDTF">2026-02-28T18:27:21Z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8cc3e47-7f2f-42e0-be7c-4ac16c3a9085_Enabled">
    <vt:lpwstr>true</vt:lpwstr>
  </property>
  <property fmtid="{D5CDD505-2E9C-101B-9397-08002B2CF9AE}" pid="3" name="MSIP_Label_68cc3e47-7f2f-42e0-be7c-4ac16c3a9085_SetDate">
    <vt:lpwstr>2026-02-28T10:49:04Z</vt:lpwstr>
  </property>
  <property fmtid="{D5CDD505-2E9C-101B-9397-08002B2CF9AE}" pid="4" name="MSIP_Label_68cc3e47-7f2f-42e0-be7c-4ac16c3a9085_Method">
    <vt:lpwstr>Standard</vt:lpwstr>
  </property>
  <property fmtid="{D5CDD505-2E9C-101B-9397-08002B2CF9AE}" pid="5" name="MSIP_Label_68cc3e47-7f2f-42e0-be7c-4ac16c3a9085_Name">
    <vt:lpwstr>Internal</vt:lpwstr>
  </property>
  <property fmtid="{D5CDD505-2E9C-101B-9397-08002B2CF9AE}" pid="6" name="MSIP_Label_68cc3e47-7f2f-42e0-be7c-4ac16c3a9085_SiteId">
    <vt:lpwstr>c99a6eaf-0642-4203-bbc7-4e7ff2354318</vt:lpwstr>
  </property>
  <property fmtid="{D5CDD505-2E9C-101B-9397-08002B2CF9AE}" pid="7" name="MSIP_Label_68cc3e47-7f2f-42e0-be7c-4ac16c3a9085_ActionId">
    <vt:lpwstr>1e6ee820-80ba-4c09-a395-9acbb47c4a63</vt:lpwstr>
  </property>
  <property fmtid="{D5CDD505-2E9C-101B-9397-08002B2CF9AE}" pid="8" name="MSIP_Label_68cc3e47-7f2f-42e0-be7c-4ac16c3a9085_ContentBits">
    <vt:lpwstr>0</vt:lpwstr>
  </property>
  <property fmtid="{D5CDD505-2E9C-101B-9397-08002B2CF9AE}" pid="9" name="MSIP_Label_68cc3e47-7f2f-42e0-be7c-4ac16c3a9085_Tag">
    <vt:lpwstr>10, 3, 0, 1</vt:lpwstr>
  </property>
</Properties>
</file>